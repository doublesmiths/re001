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Jm+lzV5GzT3z4wBNFTpN572U3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801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1"/>
              <a:buNone/>
              <a:defRPr sz="1801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9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9" y="457200"/>
            <a:ext cx="39322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7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9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9" y="457200"/>
            <a:ext cx="393223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7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9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2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63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63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63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63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63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228600" y="178904"/>
            <a:ext cx="1960793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게임 흐름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0" name="Google Shape;90;p1"/>
          <p:cNvGrpSpPr/>
          <p:nvPr/>
        </p:nvGrpSpPr>
        <p:grpSpPr>
          <a:xfrm>
            <a:off x="534015" y="964096"/>
            <a:ext cx="5210802" cy="1252329"/>
            <a:chOff x="2064639" y="1123122"/>
            <a:chExt cx="5836970" cy="1252328"/>
          </a:xfrm>
        </p:grpSpPr>
        <p:sp>
          <p:nvSpPr>
            <p:cNvPr id="91" name="Google Shape;91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스케치, 만화 영화, 그림, 클립아트이(가) 표시된 사진&#10;&#10;AI 생성 콘텐츠는 정확하지 않을 수 있습니다."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97602" y="1245865"/>
              <a:ext cx="720000" cy="7200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3" name="Google Shape;93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모험가협회</a:t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3270135" y="1406565"/>
              <a:ext cx="4388883" cy="692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임무를 수행함으로써 모험가 등급을 올릴 수 있음.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모험가 등급에 따라 각종 컨텐츠 해금.</a:t>
              </a:r>
              <a:endParaRPr/>
            </a:p>
          </p:txBody>
        </p:sp>
        <p:cxnSp>
          <p:nvCxnSpPr>
            <p:cNvPr id="95" name="Google Shape;95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" name="Google Shape;96;p1"/>
          <p:cNvGrpSpPr/>
          <p:nvPr/>
        </p:nvGrpSpPr>
        <p:grpSpPr>
          <a:xfrm>
            <a:off x="534014" y="3195269"/>
            <a:ext cx="5208393" cy="1252329"/>
            <a:chOff x="2064639" y="1123122"/>
            <a:chExt cx="5836970" cy="1252328"/>
          </a:xfrm>
        </p:grpSpPr>
        <p:sp>
          <p:nvSpPr>
            <p:cNvPr id="97" name="Google Shape;97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rgbClr val="7F340D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여정</a:t>
              </a:r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3270134" y="1287298"/>
              <a:ext cx="4590319" cy="89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여정을 통해 </a:t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경험치, 각종 재료 수급 및 임무를 완수 할 수 있으며</a:t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몬스터 포획이 가능하다.</a:t>
              </a:r>
              <a:endParaRPr/>
            </a:p>
          </p:txBody>
        </p:sp>
        <p:cxnSp>
          <p:nvCxnSpPr>
            <p:cNvPr id="100" name="Google Shape;100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만화 영화, 예술, 스테인드 글라스이(가) 표시된 사진&#10;&#10;AI 생성 콘텐츠는 정확하지 않을 수 있습니다.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286" y="3287496"/>
            <a:ext cx="720000" cy="7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"/>
          <p:cNvSpPr/>
          <p:nvPr/>
        </p:nvSpPr>
        <p:spPr>
          <a:xfrm>
            <a:off x="2673626" y="2313431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p1"/>
          <p:cNvSpPr/>
          <p:nvPr/>
        </p:nvSpPr>
        <p:spPr>
          <a:xfrm flipH="1" rot="10800000">
            <a:off x="3296472" y="2313431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F340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4" name="Google Shape;104;p1"/>
          <p:cNvSpPr/>
          <p:nvPr/>
        </p:nvSpPr>
        <p:spPr>
          <a:xfrm flipH="1" rot="-7878803">
            <a:off x="5979737" y="2416879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F340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"/>
          <p:cNvSpPr/>
          <p:nvPr/>
        </p:nvSpPr>
        <p:spPr>
          <a:xfrm rot="-5400000">
            <a:off x="6044207" y="1268745"/>
            <a:ext cx="337929" cy="55775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6" name="Google Shape;106;p1"/>
          <p:cNvGrpSpPr/>
          <p:nvPr/>
        </p:nvGrpSpPr>
        <p:grpSpPr>
          <a:xfrm>
            <a:off x="6613281" y="964096"/>
            <a:ext cx="5210802" cy="1252329"/>
            <a:chOff x="2064639" y="1123122"/>
            <a:chExt cx="5836970" cy="1252328"/>
          </a:xfrm>
        </p:grpSpPr>
        <p:sp>
          <p:nvSpPr>
            <p:cNvPr id="107" name="Google Shape;107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rgbClr val="AA8A02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신전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3270135" y="1406566"/>
              <a:ext cx="3460541" cy="692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여정으로 얻은 경험치로 레벨업을 하여</a:t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전직 가능.</a:t>
              </a:r>
              <a:endParaRPr/>
            </a:p>
          </p:txBody>
        </p:sp>
        <p:cxnSp>
          <p:nvCxnSpPr>
            <p:cNvPr id="110" name="Google Shape;110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실내, 교회이(가) 표시된 사진&#10;&#10;AI 생성 콘텐츠는 정확하지 않을 수 있습니다." id="111" name="Google Shape;11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2422" y="1056324"/>
            <a:ext cx="720000" cy="7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2" name="Google Shape;112;p1"/>
          <p:cNvGrpSpPr/>
          <p:nvPr/>
        </p:nvGrpSpPr>
        <p:grpSpPr>
          <a:xfrm>
            <a:off x="6650272" y="3195269"/>
            <a:ext cx="5286542" cy="1252329"/>
            <a:chOff x="2064639" y="1123122"/>
            <a:chExt cx="5921811" cy="1252328"/>
          </a:xfrm>
        </p:grpSpPr>
        <p:sp>
          <p:nvSpPr>
            <p:cNvPr id="113" name="Google Shape;113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rgbClr val="3E1B59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114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기술</a:t>
              </a:r>
              <a:endParaRPr/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3297698" y="1398391"/>
              <a:ext cx="4688752" cy="692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전직 시 해당 직업의 기술을 습득.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하수인과 동화율 100%시 해당 하수인의 기술을 습득.</a:t>
              </a:r>
              <a:endParaRPr/>
            </a:p>
          </p:txBody>
        </p:sp>
        <p:cxnSp>
          <p:nvCxnSpPr>
            <p:cNvPr id="116" name="Google Shape;116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스케치, 그림, 클립아트, 그래픽이(가) 표시된 사진&#10;&#10;AI 생성 콘텐츠는 정확하지 않을 수 있습니다." id="117" name="Google Shape;11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8210" y="3287496"/>
            <a:ext cx="720000" cy="720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1"/>
          <p:cNvSpPr/>
          <p:nvPr/>
        </p:nvSpPr>
        <p:spPr>
          <a:xfrm>
            <a:off x="9133448" y="2277943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29002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1"/>
          <p:cNvSpPr/>
          <p:nvPr/>
        </p:nvSpPr>
        <p:spPr>
          <a:xfrm rot="-2921197">
            <a:off x="5992765" y="4391460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F340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6613280" y="5352053"/>
            <a:ext cx="5210802" cy="1252329"/>
            <a:chOff x="2064639" y="1123122"/>
            <a:chExt cx="5836970" cy="1252328"/>
          </a:xfrm>
        </p:grpSpPr>
        <p:sp>
          <p:nvSpPr>
            <p:cNvPr id="121" name="Google Shape;121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2" name="Google Shape;122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하수인</a:t>
              </a: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3297698" y="1279123"/>
              <a:ext cx="4485347" cy="89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몬스터 포획 성공 시 하수인으로 되며</a:t>
              </a:r>
              <a:endParaRPr b="1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같이 전투 가능. 동일 하수인 포획 시 </a:t>
              </a:r>
              <a:endParaRPr b="1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하수인 능력치 및 동화율 ▲</a:t>
              </a:r>
              <a:endParaRPr b="1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24" name="Google Shape;124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클립아트, 스케치, 만화 영화, 일러스트레이션이(가) 표시된 사진&#10;&#10;AI 생성 콘텐츠는 정확하지 않을 수 있습니다." id="125" name="Google Shape;12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1216" y="5456408"/>
            <a:ext cx="720000" cy="720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1"/>
          <p:cNvSpPr/>
          <p:nvPr/>
        </p:nvSpPr>
        <p:spPr>
          <a:xfrm flipH="1" rot="10800000">
            <a:off x="9147922" y="4507410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534013" y="5366283"/>
            <a:ext cx="5208394" cy="1252329"/>
            <a:chOff x="2064639" y="1123122"/>
            <a:chExt cx="5836970" cy="1252328"/>
          </a:xfrm>
        </p:grpSpPr>
        <p:sp>
          <p:nvSpPr>
            <p:cNvPr id="128" name="Google Shape;128;p1"/>
            <p:cNvSpPr/>
            <p:nvPr/>
          </p:nvSpPr>
          <p:spPr>
            <a:xfrm>
              <a:off x="2067338" y="1123122"/>
              <a:ext cx="5834271" cy="1252328"/>
            </a:xfrm>
            <a:prstGeom prst="rect">
              <a:avLst/>
            </a:prstGeom>
            <a:solidFill>
              <a:srgbClr val="12501B"/>
            </a:solidFill>
            <a:ln cap="flat" cmpd="sng" w="19050">
              <a:solidFill>
                <a:srgbClr val="08283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1"/>
            <p:cNvSpPr txBox="1"/>
            <p:nvPr/>
          </p:nvSpPr>
          <p:spPr>
            <a:xfrm>
              <a:off x="2064639" y="2027578"/>
              <a:ext cx="1182757" cy="246221"/>
            </a:xfrm>
            <a:prstGeom prst="rect">
              <a:avLst/>
            </a:prstGeom>
            <a:solidFill>
              <a:srgbClr val="12501B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장비</a:t>
              </a:r>
              <a:endParaRPr/>
            </a:p>
          </p:txBody>
        </p:sp>
        <p:sp>
          <p:nvSpPr>
            <p:cNvPr id="130" name="Google Shape;130;p1"/>
            <p:cNvSpPr txBox="1"/>
            <p:nvPr/>
          </p:nvSpPr>
          <p:spPr>
            <a:xfrm>
              <a:off x="3270134" y="1588861"/>
              <a:ext cx="2341148" cy="292388"/>
            </a:xfrm>
            <a:prstGeom prst="rect">
              <a:avLst/>
            </a:prstGeom>
            <a:solidFill>
              <a:srgbClr val="12501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3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수급 한 재료로 장비 제작</a:t>
              </a:r>
              <a:endParaRPr b="1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1" name="Google Shape;131;p1"/>
            <p:cNvCxnSpPr/>
            <p:nvPr/>
          </p:nvCxnSpPr>
          <p:spPr>
            <a:xfrm>
              <a:off x="3247396" y="1123122"/>
              <a:ext cx="0" cy="12523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무기, 냉병기, 근접 무기, 스케치이(가) 표시된 사진&#10;&#10;AI 생성 콘텐츠는 정확하지 않을 수 있습니다." id="132" name="Google Shape;13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1463" y="5496817"/>
            <a:ext cx="720000" cy="720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1"/>
          <p:cNvSpPr/>
          <p:nvPr/>
        </p:nvSpPr>
        <p:spPr>
          <a:xfrm>
            <a:off x="2987746" y="4514523"/>
            <a:ext cx="337929" cy="7848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501B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"/>
          <p:cNvSpPr txBox="1"/>
          <p:nvPr/>
        </p:nvSpPr>
        <p:spPr>
          <a:xfrm>
            <a:off x="228600" y="178904"/>
            <a:ext cx="1960793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진행 방식</a:t>
            </a:r>
            <a:endParaRPr/>
          </a:p>
        </p:txBody>
      </p:sp>
      <p:cxnSp>
        <p:nvCxnSpPr>
          <p:cNvPr id="139" name="Google Shape;139;p2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2"/>
          <p:cNvSpPr/>
          <p:nvPr/>
        </p:nvSpPr>
        <p:spPr>
          <a:xfrm>
            <a:off x="1143000" y="3255857"/>
            <a:ext cx="1639956" cy="1023728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</a:t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(계정로그인)</a:t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3309732" y="3255857"/>
            <a:ext cx="1639956" cy="1023728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로비(마을)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</a:t>
            </a:r>
            <a:endParaRPr/>
          </a:p>
        </p:txBody>
      </p:sp>
      <p:cxnSp>
        <p:nvCxnSpPr>
          <p:cNvPr id="142" name="Google Shape;142;p2"/>
          <p:cNvCxnSpPr>
            <a:stCxn id="140" idx="3"/>
            <a:endCxn id="141" idx="1"/>
          </p:cNvCxnSpPr>
          <p:nvPr/>
        </p:nvCxnSpPr>
        <p:spPr>
          <a:xfrm>
            <a:off x="2782956" y="3767721"/>
            <a:ext cx="5268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2"/>
          <p:cNvSpPr/>
          <p:nvPr/>
        </p:nvSpPr>
        <p:spPr>
          <a:xfrm>
            <a:off x="5847522" y="696495"/>
            <a:ext cx="1639956" cy="59637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모험가협회</a:t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5847522" y="1385608"/>
            <a:ext cx="1639956" cy="59637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연금공방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5847522" y="2074720"/>
            <a:ext cx="1639956" cy="59637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신전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5847522" y="2763834"/>
            <a:ext cx="1639956" cy="59637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대장간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5847522" y="4175241"/>
            <a:ext cx="1639956" cy="1023728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여정</a:t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(전투)</a:t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8" name="Google Shape;148;p2"/>
          <p:cNvCxnSpPr/>
          <p:nvPr/>
        </p:nvCxnSpPr>
        <p:spPr>
          <a:xfrm rot="10800000">
            <a:off x="5396946" y="994680"/>
            <a:ext cx="0" cy="2773042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2"/>
          <p:cNvCxnSpPr/>
          <p:nvPr/>
        </p:nvCxnSpPr>
        <p:spPr>
          <a:xfrm>
            <a:off x="5396946" y="3767722"/>
            <a:ext cx="0" cy="919383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2"/>
          <p:cNvCxnSpPr>
            <a:endCxn id="143" idx="1"/>
          </p:cNvCxnSpPr>
          <p:nvPr/>
        </p:nvCxnSpPr>
        <p:spPr>
          <a:xfrm>
            <a:off x="5396922" y="994680"/>
            <a:ext cx="4506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" name="Google Shape;151;p2"/>
          <p:cNvCxnSpPr/>
          <p:nvPr/>
        </p:nvCxnSpPr>
        <p:spPr>
          <a:xfrm>
            <a:off x="5396948" y="1683793"/>
            <a:ext cx="450575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2"/>
          <p:cNvCxnSpPr/>
          <p:nvPr/>
        </p:nvCxnSpPr>
        <p:spPr>
          <a:xfrm>
            <a:off x="5396948" y="2372905"/>
            <a:ext cx="45057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2"/>
          <p:cNvCxnSpPr/>
          <p:nvPr/>
        </p:nvCxnSpPr>
        <p:spPr>
          <a:xfrm>
            <a:off x="5396948" y="3062018"/>
            <a:ext cx="450575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2"/>
          <p:cNvCxnSpPr/>
          <p:nvPr/>
        </p:nvCxnSpPr>
        <p:spPr>
          <a:xfrm>
            <a:off x="5396946" y="4687105"/>
            <a:ext cx="45057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5" name="Google Shape;155;p2"/>
          <p:cNvSpPr/>
          <p:nvPr/>
        </p:nvSpPr>
        <p:spPr>
          <a:xfrm>
            <a:off x="427384" y="1028677"/>
            <a:ext cx="318050" cy="33461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745435" y="1011277"/>
            <a:ext cx="1120820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구현된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428641" y="1630046"/>
            <a:ext cx="318050" cy="33461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2046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746692" y="1612646"/>
            <a:ext cx="2646878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구현안된(제작예정인)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9" name="Google Shape;159;p2"/>
          <p:cNvCxnSpPr>
            <a:endCxn id="141" idx="3"/>
          </p:cNvCxnSpPr>
          <p:nvPr/>
        </p:nvCxnSpPr>
        <p:spPr>
          <a:xfrm rot="10800000">
            <a:off x="4949688" y="3767721"/>
            <a:ext cx="447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0" name="Google Shape;160;p2"/>
          <p:cNvSpPr txBox="1"/>
          <p:nvPr/>
        </p:nvSpPr>
        <p:spPr>
          <a:xfrm>
            <a:off x="7487478" y="775713"/>
            <a:ext cx="3756156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퀘스트를 통한 게임 컨텐츠 해금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7487479" y="2188239"/>
            <a:ext cx="889987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전직</a:t>
            </a:r>
            <a:endParaRPr/>
          </a:p>
        </p:txBody>
      </p:sp>
      <p:sp>
        <p:nvSpPr>
          <p:cNvPr id="162" name="Google Shape;162;p2"/>
          <p:cNvSpPr txBox="1"/>
          <p:nvPr/>
        </p:nvSpPr>
        <p:spPr>
          <a:xfrm>
            <a:off x="7487479" y="2708877"/>
            <a:ext cx="3986989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몬스터 드랍 아이템으로 장비 제작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및 강화</a:t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7487479" y="4493002"/>
            <a:ext cx="4314001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몬스터 사냥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(경험치, 숙련도, 아이템 및 제화 획득)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7487478" y="1474301"/>
            <a:ext cx="1433406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물약 제작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228601" y="178904"/>
            <a:ext cx="246574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3-1. 로비 화면1</a:t>
            </a:r>
            <a:endParaRPr b="1"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0" name="Google Shape;170;p3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스크린샷, 텍스트, 멀티미디어 소프트웨어, 슬롯 머신이(가) 표시된 사진&#10;&#10;AI가 생성한 콘텐츠는 부정확할 수 있습니다."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00" y="810042"/>
            <a:ext cx="2398886" cy="586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/>
          <p:nvPr/>
        </p:nvSpPr>
        <p:spPr>
          <a:xfrm>
            <a:off x="475300" y="810043"/>
            <a:ext cx="2398886" cy="28057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크린샷, 텍스트, 멀티미디어 소프트웨어, 슬롯 머신이(가) 표시된 사진&#10;&#10;AI가 생성한 콘텐츠는 부정확할 수 있습니다." id="173" name="Google Shape;173;p3"/>
          <p:cNvPicPr preferRelativeResize="0"/>
          <p:nvPr/>
        </p:nvPicPr>
        <p:blipFill rotWithShape="1">
          <a:blip r:embed="rId3">
            <a:alphaModFix/>
          </a:blip>
          <a:srcRect b="95411" l="0" r="0" t="0"/>
          <a:stretch/>
        </p:blipFill>
        <p:spPr>
          <a:xfrm>
            <a:off x="3201935" y="739439"/>
            <a:ext cx="4134373" cy="46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/>
          <p:nvPr/>
        </p:nvSpPr>
        <p:spPr>
          <a:xfrm>
            <a:off x="3201934" y="739440"/>
            <a:ext cx="3497040" cy="27413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5" name="Google Shape;175;p3"/>
          <p:cNvCxnSpPr/>
          <p:nvPr/>
        </p:nvCxnSpPr>
        <p:spPr>
          <a:xfrm>
            <a:off x="2852530" y="974035"/>
            <a:ext cx="360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" name="Google Shape;176;p3"/>
          <p:cNvSpPr txBox="1"/>
          <p:nvPr/>
        </p:nvSpPr>
        <p:spPr>
          <a:xfrm>
            <a:off x="3212531" y="1253535"/>
            <a:ext cx="3522118" cy="2124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재화 표시 창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골드, 다이아 순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Amount 변화 시 Lerp로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증가/감소에 맞춰 animation 재생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050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추후 UI 애니메이션 관련 내용은</a:t>
            </a:r>
            <a:endParaRPr b="1" sz="1801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파일 참고(더 이상 언급X)</a:t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6709571" y="739438"/>
            <a:ext cx="3497040" cy="274136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6807298" y="1253534"/>
            <a:ext cx="3345339" cy="8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환경설정 버튼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[환경설정] Popup active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2117037" y="1120432"/>
            <a:ext cx="767746" cy="288258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크린샷, 텍스트, 멀티미디어 소프트웨어, 슬롯 머신이(가) 표시된 사진&#10;&#10;AI가 생성한 콘텐츠는 부정확할 수 있습니다." id="180" name="Google Shape;180;p3"/>
          <p:cNvPicPr preferRelativeResize="0"/>
          <p:nvPr/>
        </p:nvPicPr>
        <p:blipFill rotWithShape="1">
          <a:blip r:embed="rId3">
            <a:alphaModFix/>
          </a:blip>
          <a:srcRect b="89540" l="64136" r="0" t="4702"/>
          <a:stretch/>
        </p:blipFill>
        <p:spPr>
          <a:xfrm>
            <a:off x="3212531" y="3611072"/>
            <a:ext cx="2403861" cy="9442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/>
          <p:cNvSpPr/>
          <p:nvPr/>
        </p:nvSpPr>
        <p:spPr>
          <a:xfrm>
            <a:off x="3201934" y="3611074"/>
            <a:ext cx="5305963" cy="2581006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3284461" y="4611537"/>
            <a:ext cx="5650817" cy="1569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모험가협회 임무 추적창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임무는 모험가협회에서만 제공함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임무는 몬스터 드랍 아이템 n개를 모으는 방식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임무를 추적 및 갱신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임무가 있을때만 active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8601" y="178904"/>
            <a:ext cx="246574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3-2. 로비 화면2</a:t>
            </a:r>
            <a:endParaRPr b="1"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8" name="Google Shape;188;p4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스크린샷, 텍스트, 멀티미디어 소프트웨어, 슬롯 머신이(가) 표시된 사진&#10;&#10;AI가 생성한 콘텐츠는 부정확할 수 있습니다."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00" y="810042"/>
            <a:ext cx="2398886" cy="586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/>
          <p:nvPr/>
        </p:nvSpPr>
        <p:spPr>
          <a:xfrm>
            <a:off x="475300" y="3279913"/>
            <a:ext cx="2398886" cy="57647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129995" y="810042"/>
            <a:ext cx="8379518" cy="529258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3129996" y="954678"/>
            <a:ext cx="2967479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캐릭터 정보 BAR</a:t>
            </a:r>
            <a:endParaRPr/>
          </a:p>
        </p:txBody>
      </p:sp>
      <p:pic>
        <p:nvPicPr>
          <p:cNvPr descr="텍스트, 스크린샷이(가) 표시된 사진&#10;&#10;AI가 생성한 콘텐츠는 부정확할 수 있습니다." id="193" name="Google Shape;1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158" y="1324009"/>
            <a:ext cx="3324689" cy="8002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4"/>
          <p:cNvCxnSpPr/>
          <p:nvPr/>
        </p:nvCxnSpPr>
        <p:spPr>
          <a:xfrm>
            <a:off x="3677478" y="1975609"/>
            <a:ext cx="0" cy="298401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5" name="Google Shape;195;p4"/>
          <p:cNvSpPr txBox="1"/>
          <p:nvPr/>
        </p:nvSpPr>
        <p:spPr>
          <a:xfrm>
            <a:off x="3339549" y="5034026"/>
            <a:ext cx="2969083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캐릭터 초상화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직업에 따라 변경 가능하게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6" name="Google Shape;196;p4"/>
          <p:cNvCxnSpPr/>
          <p:nvPr/>
        </p:nvCxnSpPr>
        <p:spPr>
          <a:xfrm>
            <a:off x="4174434" y="1500809"/>
            <a:ext cx="0" cy="2891554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7" name="Google Shape;197;p4"/>
          <p:cNvSpPr txBox="1"/>
          <p:nvPr/>
        </p:nvSpPr>
        <p:spPr>
          <a:xfrm>
            <a:off x="3933287" y="4392364"/>
            <a:ext cx="1420582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모험가 등급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98" name="Google Shape;198;p4"/>
          <p:cNvCxnSpPr/>
          <p:nvPr/>
        </p:nvCxnSpPr>
        <p:spPr>
          <a:xfrm>
            <a:off x="4643579" y="1500809"/>
            <a:ext cx="0" cy="2243759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9" name="Google Shape;199;p4"/>
          <p:cNvSpPr txBox="1"/>
          <p:nvPr/>
        </p:nvSpPr>
        <p:spPr>
          <a:xfrm>
            <a:off x="4383424" y="3843875"/>
            <a:ext cx="646331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레벨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0" name="Google Shape;200;p4"/>
          <p:cNvCxnSpPr/>
          <p:nvPr/>
        </p:nvCxnSpPr>
        <p:spPr>
          <a:xfrm>
            <a:off x="5210110" y="1500809"/>
            <a:ext cx="0" cy="156044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1" name="Google Shape;201;p4"/>
          <p:cNvSpPr txBox="1"/>
          <p:nvPr/>
        </p:nvSpPr>
        <p:spPr>
          <a:xfrm>
            <a:off x="4844111" y="3165470"/>
            <a:ext cx="2566728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직업 (직업숙련치)</a:t>
            </a:r>
            <a:endParaRPr/>
          </a:p>
        </p:txBody>
      </p:sp>
      <p:cxnSp>
        <p:nvCxnSpPr>
          <p:cNvPr id="202" name="Google Shape;202;p4"/>
          <p:cNvCxnSpPr/>
          <p:nvPr/>
        </p:nvCxnSpPr>
        <p:spPr>
          <a:xfrm>
            <a:off x="6096001" y="1724115"/>
            <a:ext cx="1500481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3" name="Google Shape;203;p4"/>
          <p:cNvSpPr txBox="1"/>
          <p:nvPr/>
        </p:nvSpPr>
        <p:spPr>
          <a:xfrm>
            <a:off x="7636375" y="1539450"/>
            <a:ext cx="3708066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체력(HP) / 최대체력(HP)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text 및 BAR</a:t>
            </a:r>
            <a:endParaRPr/>
          </a:p>
        </p:txBody>
      </p:sp>
      <p:cxnSp>
        <p:nvCxnSpPr>
          <p:cNvPr id="204" name="Google Shape;204;p4"/>
          <p:cNvCxnSpPr/>
          <p:nvPr/>
        </p:nvCxnSpPr>
        <p:spPr>
          <a:xfrm>
            <a:off x="5805693" y="1913426"/>
            <a:ext cx="1809327" cy="482304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5" name="Google Shape;205;p4"/>
          <p:cNvSpPr txBox="1"/>
          <p:nvPr/>
        </p:nvSpPr>
        <p:spPr>
          <a:xfrm>
            <a:off x="7636376" y="2191508"/>
            <a:ext cx="3718967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레벨 경험치 text 및 BAR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"/>
          <p:cNvSpPr txBox="1"/>
          <p:nvPr/>
        </p:nvSpPr>
        <p:spPr>
          <a:xfrm>
            <a:off x="228601" y="178904"/>
            <a:ext cx="246574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3-3. 로비 화면3</a:t>
            </a:r>
            <a:endParaRPr b="1" sz="2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1" name="Google Shape;211;p5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스크린샷, 텍스트, 멀티미디어 소프트웨어, 슬롯 머신이(가) 표시된 사진&#10;&#10;AI가 생성한 콘텐츠는 부정확할 수 있습니다." id="212" name="Google Shape;2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00" y="810042"/>
            <a:ext cx="2398886" cy="586905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5"/>
          <p:cNvSpPr/>
          <p:nvPr/>
        </p:nvSpPr>
        <p:spPr>
          <a:xfrm>
            <a:off x="475300" y="4104126"/>
            <a:ext cx="1495744" cy="180965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3129995" y="810041"/>
            <a:ext cx="3559040" cy="297676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047461" y="4959626"/>
            <a:ext cx="691330" cy="864704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크린샷, 텍스트, 멀티미디어 소프트웨어, 슬롯 머신이(가) 표시된 사진&#10;&#10;AI가 생성한 콘텐츠는 부정확할 수 있습니다." id="216" name="Google Shape;216;p5"/>
          <p:cNvPicPr preferRelativeResize="0"/>
          <p:nvPr/>
        </p:nvPicPr>
        <p:blipFill rotWithShape="1">
          <a:blip r:embed="rId3">
            <a:alphaModFix/>
          </a:blip>
          <a:srcRect b="14140" l="0" r="0" t="55716"/>
          <a:stretch/>
        </p:blipFill>
        <p:spPr>
          <a:xfrm>
            <a:off x="3285084" y="976140"/>
            <a:ext cx="2398886" cy="176916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5"/>
          <p:cNvSpPr txBox="1"/>
          <p:nvPr/>
        </p:nvSpPr>
        <p:spPr>
          <a:xfrm>
            <a:off x="3285084" y="2745304"/>
            <a:ext cx="3132589" cy="8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마을 내 장소 이동 버튼 모음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해당 장소로 이동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810541" y="1860721"/>
            <a:ext cx="843612" cy="802966"/>
          </a:xfrm>
          <a:prstGeom prst="rect">
            <a:avLst/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956408" y="4104602"/>
            <a:ext cx="792322" cy="71088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20" name="Google Shape;220;p5"/>
          <p:cNvCxnSpPr/>
          <p:nvPr/>
        </p:nvCxnSpPr>
        <p:spPr>
          <a:xfrm>
            <a:off x="1966346" y="4124006"/>
            <a:ext cx="0" cy="6480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스크린샷, 텍스트, 멀티미디어 소프트웨어, 슬롯 머신이(가) 표시된 사진&#10;&#10;AI가 생성한 콘텐츠는 부정확할 수 있습니다." id="221" name="Google Shape;221;p5"/>
          <p:cNvPicPr preferRelativeResize="0"/>
          <p:nvPr/>
        </p:nvPicPr>
        <p:blipFill rotWithShape="1">
          <a:blip r:embed="rId3">
            <a:alphaModFix/>
          </a:blip>
          <a:srcRect b="13887" l="63743" r="5598" t="69505"/>
          <a:stretch/>
        </p:blipFill>
        <p:spPr>
          <a:xfrm>
            <a:off x="7209426" y="885953"/>
            <a:ext cx="735497" cy="97476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7030278" y="810040"/>
            <a:ext cx="4686422" cy="2976768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7179610" y="1946601"/>
            <a:ext cx="3183436" cy="8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여정 버튼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[여정] Popup창 Active</a:t>
            </a:r>
            <a:endParaRPr/>
          </a:p>
        </p:txBody>
      </p:sp>
      <p:pic>
        <p:nvPicPr>
          <p:cNvPr descr="스크린샷, 텍스트, 멀티미디어 소프트웨어, 슬롯 머신이(가) 표시된 사진&#10;&#10;AI가 생성한 콘텐츠는 부정확할 수 있습니다." id="224" name="Google Shape;224;p5"/>
          <p:cNvPicPr preferRelativeResize="0"/>
          <p:nvPr/>
        </p:nvPicPr>
        <p:blipFill rotWithShape="1">
          <a:blip r:embed="rId3">
            <a:alphaModFix/>
          </a:blip>
          <a:srcRect b="23636" l="83909" r="8745" t="70846"/>
          <a:stretch/>
        </p:blipFill>
        <p:spPr>
          <a:xfrm>
            <a:off x="7240176" y="2909644"/>
            <a:ext cx="363260" cy="66761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 txBox="1"/>
          <p:nvPr/>
        </p:nvSpPr>
        <p:spPr>
          <a:xfrm>
            <a:off x="7682948" y="3020593"/>
            <a:ext cx="3667540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= </a:t>
            </a:r>
            <a:r>
              <a:rPr b="1"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모험가협회 임무를 달성하기 위해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지금 가야할 곳을 표시함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69678" y="6067866"/>
            <a:ext cx="2024662" cy="611231"/>
          </a:xfrm>
          <a:prstGeom prst="rect">
            <a:avLst/>
          </a:prstGeom>
          <a:noFill/>
          <a:ln cap="flat" cmpd="sng" w="38100">
            <a:solidFill>
              <a:srgbClr val="00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스크린샷, 텍스트, 멀티미디어 소프트웨어, 슬롯 머신이(가) 표시된 사진&#10;&#10;AI가 생성한 콘텐츠는 부정확할 수 있습니다." id="227" name="Google Shape;227;p5"/>
          <p:cNvPicPr preferRelativeResize="0"/>
          <p:nvPr/>
        </p:nvPicPr>
        <p:blipFill rotWithShape="1">
          <a:blip r:embed="rId3">
            <a:alphaModFix/>
          </a:blip>
          <a:srcRect b="0" l="0" r="0" t="89402"/>
          <a:stretch/>
        </p:blipFill>
        <p:spPr>
          <a:xfrm>
            <a:off x="3285084" y="4933973"/>
            <a:ext cx="2398886" cy="62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/>
          <p:nvPr/>
        </p:nvSpPr>
        <p:spPr>
          <a:xfrm>
            <a:off x="3129995" y="4772005"/>
            <a:ext cx="3559040" cy="1907090"/>
          </a:xfrm>
          <a:prstGeom prst="rect">
            <a:avLst/>
          </a:prstGeom>
          <a:noFill/>
          <a:ln cap="flat" cmpd="sng" w="38100">
            <a:solidFill>
              <a:srgbClr val="00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244245" y="5682429"/>
            <a:ext cx="3512500" cy="8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 캐릭터 관련 버튼 모음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7" lvl="0" marL="28575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해당 Popup창 Active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"/>
          <p:cNvSpPr txBox="1"/>
          <p:nvPr/>
        </p:nvSpPr>
        <p:spPr>
          <a:xfrm>
            <a:off x="228600" y="178904"/>
            <a:ext cx="228139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환경설정 창</a:t>
            </a:r>
            <a:endParaRPr/>
          </a:p>
        </p:txBody>
      </p:sp>
      <p:cxnSp>
        <p:nvCxnSpPr>
          <p:cNvPr id="235" name="Google Shape;235;p6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텍스트, 스크린샷, 멀티미디어 소프트웨어, 소프트웨어이(가) 표시된 사진&#10;&#10;AI가 생성한 콘텐츠는 부정확할 수 있습니다." id="236" name="Google Shape;2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7114" y="725557"/>
            <a:ext cx="2498638" cy="608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040" y="728103"/>
            <a:ext cx="2478382" cy="6080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6"/>
          <p:cNvCxnSpPr/>
          <p:nvPr/>
        </p:nvCxnSpPr>
        <p:spPr>
          <a:xfrm rot="10800000">
            <a:off x="2474843" y="4591878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9" name="Google Shape;239;p6"/>
          <p:cNvSpPr txBox="1"/>
          <p:nvPr/>
        </p:nvSpPr>
        <p:spPr>
          <a:xfrm>
            <a:off x="228601" y="4378118"/>
            <a:ext cx="3512500" cy="175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피해숫자 생성이란: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시 적에게 피해를 가할때나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피해를 받을때 등 생성되는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Damage Text Popup을 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생성할 것인지 아닌지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/>
        </p:nvSpPr>
        <p:spPr>
          <a:xfrm>
            <a:off x="228601" y="178904"/>
            <a:ext cx="2600392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5-1. 상태정보 창</a:t>
            </a:r>
            <a:endParaRPr/>
          </a:p>
        </p:txBody>
      </p:sp>
      <p:cxnSp>
        <p:nvCxnSpPr>
          <p:cNvPr id="245" name="Google Shape;245;p7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992" y="739096"/>
            <a:ext cx="2437265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3120886" y="914400"/>
            <a:ext cx="5011308" cy="4556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능력치 종류: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*모든 증가량 및 최대 할당 수치들은 조정 가능하게끔</a:t>
            </a:r>
            <a:endParaRPr b="1" sz="14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*우선 괄호 안의 숫자로 증가량 진행</a:t>
            </a:r>
            <a:endParaRPr b="1" sz="14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*모든 초기 설정 능력치는 0. (조정 가능하게끔)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근력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할당된 각 근력수치마다 </a:t>
            </a:r>
            <a:r>
              <a:rPr b="1" i="0" lang="ko-KR" sz="15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물리공격력(1)</a:t>
            </a: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증가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050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체력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할당된 각 체력수치마다 </a:t>
            </a:r>
            <a:r>
              <a:rPr b="1" i="0" lang="ko-KR" sz="15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최대&amp;현재HP(30)</a:t>
            </a: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050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민첩 </a:t>
            </a:r>
            <a:r>
              <a:rPr b="1" lang="ko-KR" sz="18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[최대 할당 수치 존재(100)]</a:t>
            </a:r>
            <a:endParaRPr/>
          </a:p>
          <a:p>
            <a:pPr indent="-28575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할당된 민첩수치마다 </a:t>
            </a:r>
            <a:r>
              <a:rPr b="1" i="0" lang="ko-KR" sz="15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 딜레이(-0.02초)</a:t>
            </a: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감소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Char char="-"/>
            </a:pP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할당된 민첩수치마다 </a:t>
            </a:r>
            <a:r>
              <a:rPr b="1" i="0" lang="ko-KR" sz="15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회피율(0.1%)</a:t>
            </a: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</a:t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90506" lvl="1" marL="74296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lgun Gothic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마력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할당된 마력수치마다 </a:t>
            </a:r>
            <a:r>
              <a:rPr b="1" i="0" lang="ko-KR" sz="15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마법공격력(1)</a:t>
            </a:r>
            <a:r>
              <a:rPr b="1" i="0" lang="ko-KR" sz="15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증가</a:t>
            </a:r>
            <a:endParaRPr/>
          </a:p>
        </p:txBody>
      </p:sp>
      <p:pic>
        <p:nvPicPr>
          <p:cNvPr id="248" name="Google Shape;24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7630" y="95767"/>
            <a:ext cx="427730" cy="49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 txBox="1"/>
          <p:nvPr/>
        </p:nvSpPr>
        <p:spPr>
          <a:xfrm>
            <a:off x="228601" y="178904"/>
            <a:ext cx="227979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5-2. 능력 종류</a:t>
            </a:r>
            <a:endParaRPr/>
          </a:p>
        </p:txBody>
      </p:sp>
      <p:cxnSp>
        <p:nvCxnSpPr>
          <p:cNvPr id="254" name="Google Shape;254;p8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5" name="Google Shape;255;p8"/>
          <p:cNvSpPr txBox="1"/>
          <p:nvPr/>
        </p:nvSpPr>
        <p:spPr>
          <a:xfrm>
            <a:off x="3120887" y="659585"/>
            <a:ext cx="9026830" cy="5850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[능력 상세정보] 누를 시: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*모든 전투와 보조에 관련된 능력치들이 표시됨</a:t>
            </a:r>
            <a:endParaRPr b="1" sz="14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*괄호()안에 수치는 초기 설정 수치 – 조정가능하게끔</a:t>
            </a:r>
            <a:endParaRPr b="1" sz="14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*치명타, 물리저항, 마법저항, 회피율은 100%가 넘어갈 시 표기는 넘은 그대로 하되 적용은 100%까지만 적용.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*표기 시 소수점이 생기면 괄호()안에 표기된 소수점까지만  반올림하여 표기 및 적용.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소수점 없을 경우 소수점 표기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물리공격력: 물리타입 공격들의 피해량에 영향 (10)</a:t>
            </a:r>
            <a:endParaRPr/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마법공격력: 마법타입 공격들의 피해량에 영향 (10)</a:t>
            </a:r>
            <a:endParaRPr/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치명타: 공격이 치명타로 적중할 확률 (0.00%) 100% 이상 수치가 가능하나 적용은 100%까지만.</a:t>
            </a:r>
            <a:endParaRPr/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치명타피해: 치명타로 적중 시 표기된 %로 피해량을 곱하여 피해를 줌 (150%) </a:t>
            </a:r>
            <a:r>
              <a:rPr b="1" lang="ko-KR" sz="10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즉 150%면 1.5배</a:t>
            </a:r>
            <a:endParaRPr b="1" sz="10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명중률: 공격이 적에게 적중할 확률 (80.0%)</a:t>
            </a:r>
            <a:endParaRPr/>
          </a:p>
          <a:p>
            <a:pPr indent="-342908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AutoNum type="arabicPeriod"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공격속도: </a:t>
            </a:r>
            <a:r>
              <a:rPr b="1" lang="ko-KR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기본공격 1회 Anim의 Speed. (100%)</a:t>
            </a:r>
            <a:endParaRPr/>
          </a:p>
          <a:p>
            <a:pPr indent="-253944" lvl="0" marL="34290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1"/>
              <a:buFont typeface="Malgun Gothic"/>
              <a:buNone/>
            </a:pPr>
            <a:r>
              <a:t/>
            </a:r>
            <a:endParaRPr b="1" sz="14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최대체력: 신체 내구력. 0이 되면 사망.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방어력: 모든 타입의 최종 피해량에서 방어력의 수치만큼 최종 피해량을 감소.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최종 피해량은 음수(-)가 될 수 없음. (0)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물리저항: 물리 타입의 피해를 받을때 해당% 만큼 피해량을 감소. (0.00%)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10.마법저항: 마법 타입의 피해를 받을때 해당% 만큼 피해량을 감소. (0.00%)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11.회피율: 모든 타입의 공격을 해당% 만큼 회피하여 피해를 무시. (0.00%)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12.회복력: 체력회복에 관련된 모든 효과를 표기된 %로 곱하여 적용. (0.0%)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 성장률: 레벨 경험치 획득 시 표기된 %로 곱하여 적용. (100%)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14. 획득률: 몬스터 드랍률 표기된 %로 곱하여 적용.(100%)</a:t>
            </a:r>
            <a:endParaRPr/>
          </a:p>
        </p:txBody>
      </p:sp>
      <p:pic>
        <p:nvPicPr>
          <p:cNvPr id="256" name="Google Shape;2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480" y="739096"/>
            <a:ext cx="2450583" cy="59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 txBox="1"/>
          <p:nvPr/>
        </p:nvSpPr>
        <p:spPr>
          <a:xfrm>
            <a:off x="228600" y="178904"/>
            <a:ext cx="3241593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5-3. 증가율과 증폭률</a:t>
            </a:r>
            <a:endParaRPr/>
          </a:p>
        </p:txBody>
      </p:sp>
      <p:cxnSp>
        <p:nvCxnSpPr>
          <p:cNvPr id="262" name="Google Shape;262;p9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3" name="Google Shape;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797" y="739096"/>
            <a:ext cx="2423946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/>
          <p:nvPr/>
        </p:nvSpPr>
        <p:spPr>
          <a:xfrm>
            <a:off x="725557" y="3329609"/>
            <a:ext cx="1808922" cy="73549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25557" y="4803913"/>
            <a:ext cx="1808922" cy="73549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3240157" y="1013792"/>
            <a:ext cx="7604967" cy="5080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물리공격력, 마법공격력, 최대체력, 방어력</a:t>
            </a:r>
            <a:endParaRPr b="1" sz="180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4가지 능력치는 </a:t>
            </a:r>
            <a:r>
              <a:rPr b="1" lang="ko-KR" sz="18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증가율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b="1" lang="ko-KR" sz="18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증폭률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존재.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증가율은 +n%로 표기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증폭률은 xn으로 표기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공식은 단순함.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* (증가율+1) * 증폭률 = 최종 능력치.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위 4가지 능력치 박스를 누를 시 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UI가 확장되며 증가율과 증폭률 확인이 가능.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 전 표기 능력치는 최종 능력치임.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또한 능력치(근력,체력 등등)으로 오르는 수치는 [기본]수치가 오르는 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228601" y="178904"/>
            <a:ext cx="216758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5-4. 능력점수</a:t>
            </a:r>
            <a:endParaRPr/>
          </a:p>
        </p:txBody>
      </p:sp>
      <p:cxnSp>
        <p:nvCxnSpPr>
          <p:cNvPr id="272" name="Google Shape;272;p10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3" name="Google Shape;2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0" y="739096"/>
            <a:ext cx="2423946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0"/>
          <p:cNvSpPr/>
          <p:nvPr/>
        </p:nvSpPr>
        <p:spPr>
          <a:xfrm>
            <a:off x="646043" y="1620078"/>
            <a:ext cx="655983" cy="29817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150705" y="739098"/>
            <a:ext cx="7401385" cy="2370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2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능력점수: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능력점수는 레벨업을 할때마다 n씩 제공.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방법으로도 얻을 수 있게끔 할 예정.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능력점수 초기화 기능 예정. (아이템으로)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능력 점수를 사용하여 능력치에 배분 가능. (능력치칸에 &lt;&gt; 버튼으로)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배분 시 적용된 능력을 [능력 상세정보]창에서 확인 가능.</a:t>
            </a:r>
            <a:endParaRPr/>
          </a:p>
        </p:txBody>
      </p:sp>
      <p:pic>
        <p:nvPicPr>
          <p:cNvPr id="276" name="Google Shape;276;p10"/>
          <p:cNvPicPr preferRelativeResize="0"/>
          <p:nvPr/>
        </p:nvPicPr>
        <p:blipFill rotWithShape="1">
          <a:blip r:embed="rId3">
            <a:alphaModFix/>
          </a:blip>
          <a:srcRect b="63615" l="9762" r="80992" t="32151"/>
          <a:stretch/>
        </p:blipFill>
        <p:spPr>
          <a:xfrm>
            <a:off x="3150704" y="3529181"/>
            <a:ext cx="546100" cy="6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 txBox="1"/>
          <p:nvPr/>
        </p:nvSpPr>
        <p:spPr>
          <a:xfrm>
            <a:off x="3696805" y="3529181"/>
            <a:ext cx="3825086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배분 능력치 초기화 버튼.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배분된 능력치가 초기화 됨</a:t>
            </a:r>
            <a:endParaRPr/>
          </a:p>
        </p:txBody>
      </p:sp>
      <p:pic>
        <p:nvPicPr>
          <p:cNvPr id="278" name="Google Shape;2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1891" y="3205334"/>
            <a:ext cx="1827470" cy="14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0"/>
          <p:cNvPicPr preferRelativeResize="0"/>
          <p:nvPr/>
        </p:nvPicPr>
        <p:blipFill rotWithShape="1">
          <a:blip r:embed="rId3">
            <a:alphaModFix/>
          </a:blip>
          <a:srcRect b="63615" l="80386" r="10023" t="32151"/>
          <a:stretch/>
        </p:blipFill>
        <p:spPr>
          <a:xfrm>
            <a:off x="3150704" y="5082998"/>
            <a:ext cx="566530" cy="6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3696805" y="5066218"/>
            <a:ext cx="3573414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배분 능력치 확정 버튼.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누를 시 배분된 능력치가 적용됨.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81" name="Google Shape;2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8410" y="4785248"/>
            <a:ext cx="1814430" cy="142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/>
          <p:cNvPicPr preferRelativeResize="0"/>
          <p:nvPr/>
        </p:nvPicPr>
        <p:blipFill rotWithShape="1">
          <a:blip r:embed="rId3">
            <a:alphaModFix/>
          </a:blip>
          <a:srcRect b="68157" l="8772" r="68266" t="20632"/>
          <a:stretch/>
        </p:blipFill>
        <p:spPr>
          <a:xfrm>
            <a:off x="10407742" y="3596093"/>
            <a:ext cx="784137" cy="9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10471819" y="4198024"/>
            <a:ext cx="655983" cy="29817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9871029" y="4574010"/>
            <a:ext cx="185820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해당 능력치에</a:t>
            </a:r>
            <a:endParaRPr b="1"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배분된 능력점수</a:t>
            </a:r>
            <a:endParaRPr/>
          </a:p>
        </p:txBody>
      </p:sp>
      <p:cxnSp>
        <p:nvCxnSpPr>
          <p:cNvPr id="285" name="Google Shape;285;p10"/>
          <p:cNvCxnSpPr/>
          <p:nvPr/>
        </p:nvCxnSpPr>
        <p:spPr>
          <a:xfrm>
            <a:off x="1928193" y="1779105"/>
            <a:ext cx="725557" cy="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/>
          <p:nvPr/>
        </p:nvSpPr>
        <p:spPr>
          <a:xfrm>
            <a:off x="228600" y="178904"/>
            <a:ext cx="265329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데미지 처리 방식</a:t>
            </a:r>
            <a:endParaRPr/>
          </a:p>
        </p:txBody>
      </p:sp>
      <p:cxnSp>
        <p:nvCxnSpPr>
          <p:cNvPr id="291" name="Google Shape;291;p11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2" name="Google Shape;292;p11"/>
          <p:cNvGrpSpPr/>
          <p:nvPr/>
        </p:nvGrpSpPr>
        <p:grpSpPr>
          <a:xfrm>
            <a:off x="569559" y="1133012"/>
            <a:ext cx="8718759" cy="4592104"/>
            <a:chOff x="2060427" y="1683878"/>
            <a:chExt cx="8718758" cy="4592103"/>
          </a:xfrm>
        </p:grpSpPr>
        <p:sp>
          <p:nvSpPr>
            <p:cNvPr id="293" name="Google Shape;293;p11"/>
            <p:cNvSpPr txBox="1"/>
            <p:nvPr/>
          </p:nvSpPr>
          <p:spPr>
            <a:xfrm>
              <a:off x="2060427" y="1683878"/>
              <a:ext cx="7080784" cy="646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1. 공격자 명중률 주사위 굴림 – 성공 시 다음 단계, 실패 시 빗나감</a:t>
              </a:r>
              <a:endParaRPr b="1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</a:t>
              </a:r>
              <a:r>
                <a:rPr b="1" lang="ko-KR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(만약 명중률이 100%이상일 시 바로 다음단계)</a:t>
              </a:r>
              <a:endParaRPr/>
            </a:p>
          </p:txBody>
        </p:sp>
        <p:sp>
          <p:nvSpPr>
            <p:cNvPr id="294" name="Google Shape;294;p11"/>
            <p:cNvSpPr txBox="1"/>
            <p:nvPr/>
          </p:nvSpPr>
          <p:spPr>
            <a:xfrm>
              <a:off x="2060427" y="2512195"/>
              <a:ext cx="6306534" cy="646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2. 피격자 회피율 주사위 굴림 – 성공 시 회피, 실패 시 피격</a:t>
              </a:r>
              <a:endParaRPr b="1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</a:t>
              </a:r>
              <a:r>
                <a:rPr b="1" lang="ko-KR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(만약 공격자의 명중률이 100%초과 시 (피격자 회피율- 공격자 명중률))</a:t>
              </a:r>
              <a:endParaRPr/>
            </a:p>
          </p:txBody>
        </p:sp>
        <p:grpSp>
          <p:nvGrpSpPr>
            <p:cNvPr id="295" name="Google Shape;295;p11"/>
            <p:cNvGrpSpPr/>
            <p:nvPr/>
          </p:nvGrpSpPr>
          <p:grpSpPr>
            <a:xfrm>
              <a:off x="2060427" y="3468148"/>
              <a:ext cx="8718758" cy="2807833"/>
              <a:chOff x="2060427" y="2871801"/>
              <a:chExt cx="8718758" cy="2807833"/>
            </a:xfrm>
          </p:grpSpPr>
          <p:grpSp>
            <p:nvGrpSpPr>
              <p:cNvPr id="296" name="Google Shape;296;p11"/>
              <p:cNvGrpSpPr/>
              <p:nvPr/>
            </p:nvGrpSpPr>
            <p:grpSpPr>
              <a:xfrm>
                <a:off x="2547444" y="3318383"/>
                <a:ext cx="8231741" cy="2361251"/>
                <a:chOff x="4333461" y="3488634"/>
                <a:chExt cx="8231741" cy="2361251"/>
              </a:xfrm>
            </p:grpSpPr>
            <p:sp>
              <p:nvSpPr>
                <p:cNvPr id="297" name="Google Shape;297;p11"/>
                <p:cNvSpPr txBox="1"/>
                <p:nvPr/>
              </p:nvSpPr>
              <p:spPr>
                <a:xfrm>
                  <a:off x="4333462" y="3645690"/>
                  <a:ext cx="8231740" cy="3694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i. 공격자의 해당 공격타입의 공격력 </a:t>
                  </a:r>
                  <a:r>
                    <a:rPr b="1" lang="ko-KR" sz="14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(*스킬 데미지 배수) (*치명타피해) </a:t>
                  </a: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= BASE DMG</a:t>
                  </a:r>
                  <a:endParaRPr/>
                </a:p>
              </p:txBody>
            </p:sp>
            <p:sp>
              <p:nvSpPr>
                <p:cNvPr id="298" name="Google Shape;298;p11"/>
                <p:cNvSpPr txBox="1"/>
                <p:nvPr/>
              </p:nvSpPr>
              <p:spPr>
                <a:xfrm>
                  <a:off x="4333462" y="4310365"/>
                  <a:ext cx="7906331" cy="3694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ii. BASE DMG - (BASE DMG * 피격자의 해당타입저항 ) – 방어력 = DMG</a:t>
                  </a:r>
                  <a:endParaRPr/>
                </a:p>
              </p:txBody>
            </p:sp>
            <p:sp>
              <p:nvSpPr>
                <p:cNvPr id="299" name="Google Shape;299;p11"/>
                <p:cNvSpPr txBox="1"/>
                <p:nvPr/>
              </p:nvSpPr>
              <p:spPr>
                <a:xfrm>
                  <a:off x="4333461" y="4975040"/>
                  <a:ext cx="4392548" cy="3694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iii. DMG x (1+</a:t>
                  </a:r>
                  <a:r>
                    <a:rPr b="1" lang="ko-KR" sz="1801">
                      <a:solidFill>
                        <a:srgbClr val="1F5C99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피해증폭</a:t>
                  </a: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) = FINAL DMG</a:t>
                  </a:r>
                  <a:endParaRPr/>
                </a:p>
              </p:txBody>
            </p:sp>
            <p:sp>
              <p:nvSpPr>
                <p:cNvPr id="300" name="Google Shape;300;p11"/>
                <p:cNvSpPr txBox="1"/>
                <p:nvPr/>
              </p:nvSpPr>
              <p:spPr>
                <a:xfrm>
                  <a:off x="9922587" y="3488634"/>
                  <a:ext cx="85472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치명타 시</a:t>
                  </a:r>
                  <a:endParaRPr/>
                </a:p>
              </p:txBody>
            </p:sp>
            <p:sp>
              <p:nvSpPr>
                <p:cNvPr id="301" name="Google Shape;301;p11"/>
                <p:cNvSpPr txBox="1"/>
                <p:nvPr/>
              </p:nvSpPr>
              <p:spPr>
                <a:xfrm>
                  <a:off x="8326417" y="3488634"/>
                  <a:ext cx="121700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공격 스킬일 시</a:t>
                  </a:r>
                  <a:endParaRPr/>
                </a:p>
              </p:txBody>
            </p:sp>
            <p:sp>
              <p:nvSpPr>
                <p:cNvPr id="302" name="Google Shape;302;p11"/>
                <p:cNvSpPr txBox="1"/>
                <p:nvPr/>
              </p:nvSpPr>
              <p:spPr>
                <a:xfrm>
                  <a:off x="4333461" y="5480425"/>
                  <a:ext cx="3741730" cy="3694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-KR" sz="1801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iii. 피격자 현재 HP – FINAL DMG</a:t>
                  </a:r>
                  <a:endParaRPr/>
                </a:p>
              </p:txBody>
            </p:sp>
          </p:grpSp>
          <p:sp>
            <p:nvSpPr>
              <p:cNvPr id="303" name="Google Shape;303;p11"/>
              <p:cNvSpPr txBox="1"/>
              <p:nvPr/>
            </p:nvSpPr>
            <p:spPr>
              <a:xfrm>
                <a:off x="2060427" y="2871801"/>
                <a:ext cx="1378904" cy="3694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80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3. 피격 시 :</a:t>
                </a:r>
                <a:endParaRPr/>
              </a:p>
            </p:txBody>
          </p:sp>
        </p:grpSp>
      </p:grpSp>
      <p:sp>
        <p:nvSpPr>
          <p:cNvPr id="304" name="Google Shape;304;p11"/>
          <p:cNvSpPr txBox="1"/>
          <p:nvPr/>
        </p:nvSpPr>
        <p:spPr>
          <a:xfrm>
            <a:off x="951899" y="6309764"/>
            <a:ext cx="7571560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피해증폭은 </a:t>
            </a:r>
            <a:r>
              <a:rPr b="1" lang="ko-KR" sz="1801" u="sng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[전투 – 하단 UI3]</a:t>
            </a:r>
            <a:r>
              <a:rPr b="1" lang="ko-KR" sz="1801">
                <a:solidFill>
                  <a:srgbClr val="1F5C99"/>
                </a:solidFill>
                <a:latin typeface="Malgun Gothic"/>
                <a:ea typeface="Malgun Gothic"/>
                <a:cs typeface="Malgun Gothic"/>
                <a:sym typeface="Malgun Gothic"/>
              </a:rPr>
              <a:t> PAGE에 나와있음 (여기서 4page 뒤에)</a:t>
            </a:r>
            <a:endParaRPr b="1" sz="1801">
              <a:solidFill>
                <a:srgbClr val="1F5C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 txBox="1"/>
          <p:nvPr/>
        </p:nvSpPr>
        <p:spPr>
          <a:xfrm>
            <a:off x="228601" y="178904"/>
            <a:ext cx="1527982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소지품</a:t>
            </a:r>
            <a:endParaRPr/>
          </a:p>
        </p:txBody>
      </p:sp>
      <p:cxnSp>
        <p:nvCxnSpPr>
          <p:cNvPr id="310" name="Google Shape;310;p12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12"/>
          <p:cNvSpPr txBox="1"/>
          <p:nvPr/>
        </p:nvSpPr>
        <p:spPr>
          <a:xfrm>
            <a:off x="3150706" y="739096"/>
            <a:ext cx="8289456" cy="492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2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소지품 (Inventory)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소지품 칸이 존재하며 소지품 칸은 [열린칸]과 [닫힌칸]으로 나뉜다.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[열린칸]에는 획득한 아이템이 자동으로 보관된다.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칸마다 한가지 아이템을 보관할 수 있다.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아이템마다 999개까지 보관 가능 하며 이를 초과하여 획득할 시 또는 더 이상 남아있는 [열린칸]이 없을 시 알림 팝업이 뜨며 해당 아이템은 획득이 불가능하다.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아이템은 첫째줄 가장 왼쪽의 [열린칸]부터 오른쪽으로 보관된다.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[닫힌칸]은 아이템 또는 퀘스트를 통해 하나씩 해금할 수 있다.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[열린칸]과 [닫힌칸]의 총 개수는 n개(25)이다.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Scroll Bar로 제작.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23" y="1066623"/>
            <a:ext cx="2886478" cy="492511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416560" y="1717041"/>
            <a:ext cx="2369105" cy="312928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899921" y="4846321"/>
            <a:ext cx="885744" cy="264160"/>
          </a:xfrm>
          <a:prstGeom prst="rect">
            <a:avLst/>
          </a:prstGeom>
          <a:noFill/>
          <a:ln cap="flat" cmpd="sng" w="19050">
            <a:solidFill>
              <a:srgbClr val="00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5" name="Google Shape;3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7007" y="5606424"/>
            <a:ext cx="943106" cy="26673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2"/>
          <p:cNvSpPr txBox="1"/>
          <p:nvPr/>
        </p:nvSpPr>
        <p:spPr>
          <a:xfrm>
            <a:off x="4190114" y="5555124"/>
            <a:ext cx="5502527" cy="646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누를 시 빈자리 없이 보유중이 아이템들이 첫째줄 가장 왼쪽의 [열린칸]부터 오른쪽으로 정련된다. </a:t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3150706" y="739097"/>
            <a:ext cx="8289456" cy="453903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3150705" y="5455921"/>
            <a:ext cx="6541935" cy="944880"/>
          </a:xfrm>
          <a:prstGeom prst="rect">
            <a:avLst/>
          </a:prstGeom>
          <a:noFill/>
          <a:ln cap="flat" cmpd="sng" w="19050">
            <a:solidFill>
              <a:srgbClr val="00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/>
          <p:nvPr/>
        </p:nvSpPr>
        <p:spPr>
          <a:xfrm>
            <a:off x="228601" y="178904"/>
            <a:ext cx="1527982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귀중품</a:t>
            </a:r>
            <a:endParaRPr/>
          </a:p>
        </p:txBody>
      </p:sp>
      <p:cxnSp>
        <p:nvCxnSpPr>
          <p:cNvPr id="324" name="Google Shape;324;p13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5" name="Google Shape;325;p13"/>
          <p:cNvSpPr txBox="1"/>
          <p:nvPr/>
        </p:nvSpPr>
        <p:spPr>
          <a:xfrm>
            <a:off x="3150706" y="739097"/>
            <a:ext cx="8289456" cy="2722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2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귀중품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544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None/>
            </a:pPr>
            <a:r>
              <a:t/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[귀중품] 버튼을 누를 시 아래와 같은 팝업이 나오게 된다.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[귀중품] 안에는 퀘스트나 게임 진행에 필요한 중요한 아이템이 들어가게 된다.</a:t>
            </a:r>
            <a:endParaRPr/>
          </a:p>
          <a:p>
            <a:pPr indent="-342908" lvl="0" marL="342908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Malgun Gothic"/>
              <a:buAutoNum type="arabicPeriod"/>
            </a:pPr>
            <a:r>
              <a:rPr b="1"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퀘스트를 받았을때 소지품의 [열린칸]이 부족하여 막히는 상황이 발생하지 않기 위하여 만든 기능.</a:t>
            </a:r>
            <a:endParaRPr/>
          </a:p>
        </p:txBody>
      </p:sp>
      <p:pic>
        <p:nvPicPr>
          <p:cNvPr id="326" name="Google Shape;3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23" y="709820"/>
            <a:ext cx="2886478" cy="49251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1219201" y="4960093"/>
            <a:ext cx="721360" cy="59503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8" name="Google Shape;3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060" y="6044591"/>
            <a:ext cx="2353003" cy="543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13"/>
          <p:cNvCxnSpPr>
            <a:stCxn id="327" idx="2"/>
            <a:endCxn id="328" idx="0"/>
          </p:cNvCxnSpPr>
          <p:nvPr/>
        </p:nvCxnSpPr>
        <p:spPr>
          <a:xfrm flipH="1">
            <a:off x="1573581" y="5555126"/>
            <a:ext cx="6300" cy="48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0" name="Google Shape;330;p13"/>
          <p:cNvSpPr/>
          <p:nvPr/>
        </p:nvSpPr>
        <p:spPr>
          <a:xfrm>
            <a:off x="380648" y="6044592"/>
            <a:ext cx="2369414" cy="55076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4"/>
          <p:cNvSpPr txBox="1"/>
          <p:nvPr/>
        </p:nvSpPr>
        <p:spPr>
          <a:xfrm>
            <a:off x="228600" y="178904"/>
            <a:ext cx="228139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아이템 정보</a:t>
            </a:r>
            <a:endParaRPr/>
          </a:p>
        </p:txBody>
      </p:sp>
      <p:cxnSp>
        <p:nvCxnSpPr>
          <p:cNvPr id="336" name="Google Shape;336;p14"/>
          <p:cNvCxnSpPr/>
          <p:nvPr/>
        </p:nvCxnSpPr>
        <p:spPr>
          <a:xfrm>
            <a:off x="327991" y="655958"/>
            <a:ext cx="2693504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4"/>
          <p:cNvSpPr txBox="1"/>
          <p:nvPr/>
        </p:nvSpPr>
        <p:spPr>
          <a:xfrm>
            <a:off x="3150706" y="739098"/>
            <a:ext cx="8289456" cy="534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2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정보</a:t>
            </a:r>
            <a:endParaRPr b="1"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38" name="Google Shape;3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15" y="1234230"/>
            <a:ext cx="2563578" cy="34349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14"/>
          <p:cNvCxnSpPr/>
          <p:nvPr/>
        </p:nvCxnSpPr>
        <p:spPr>
          <a:xfrm>
            <a:off x="1547203" y="1699591"/>
            <a:ext cx="491323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0" name="Google Shape;340;p14"/>
          <p:cNvSpPr txBox="1"/>
          <p:nvPr/>
        </p:nvSpPr>
        <p:spPr>
          <a:xfrm>
            <a:off x="2988844" y="1330260"/>
            <a:ext cx="3050835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등급에 따른 배경 색</a:t>
            </a:r>
            <a:endParaRPr/>
          </a:p>
        </p:txBody>
      </p:sp>
      <p:cxnSp>
        <p:nvCxnSpPr>
          <p:cNvPr id="341" name="Google Shape;341;p14"/>
          <p:cNvCxnSpPr/>
          <p:nvPr/>
        </p:nvCxnSpPr>
        <p:spPr>
          <a:xfrm>
            <a:off x="1567082" y="1977887"/>
            <a:ext cx="1454414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2" name="Google Shape;342;p14"/>
          <p:cNvCxnSpPr/>
          <p:nvPr/>
        </p:nvCxnSpPr>
        <p:spPr>
          <a:xfrm>
            <a:off x="1674743" y="1514925"/>
            <a:ext cx="1346752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3" name="Google Shape;343;p14"/>
          <p:cNvSpPr txBox="1"/>
          <p:nvPr/>
        </p:nvSpPr>
        <p:spPr>
          <a:xfrm>
            <a:off x="6460434" y="1514926"/>
            <a:ext cx="1651414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아이콘</a:t>
            </a:r>
            <a:endParaRPr/>
          </a:p>
        </p:txBody>
      </p:sp>
      <p:sp>
        <p:nvSpPr>
          <p:cNvPr id="344" name="Google Shape;344;p14"/>
          <p:cNvSpPr txBox="1"/>
          <p:nvPr/>
        </p:nvSpPr>
        <p:spPr>
          <a:xfrm>
            <a:off x="2988843" y="1793222"/>
            <a:ext cx="4114909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소지 개수(없을 시 text 표시 X)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45" name="Google Shape;345;p14"/>
          <p:cNvCxnSpPr/>
          <p:nvPr/>
        </p:nvCxnSpPr>
        <p:spPr>
          <a:xfrm>
            <a:off x="2294290" y="2295939"/>
            <a:ext cx="418602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6" name="Google Shape;346;p14"/>
          <p:cNvSpPr txBox="1"/>
          <p:nvPr/>
        </p:nvSpPr>
        <p:spPr>
          <a:xfrm>
            <a:off x="6437774" y="2111273"/>
            <a:ext cx="3050835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등급에 따른 배경 색</a:t>
            </a:r>
            <a:endParaRPr/>
          </a:p>
        </p:txBody>
      </p:sp>
      <p:cxnSp>
        <p:nvCxnSpPr>
          <p:cNvPr id="347" name="Google Shape;347;p14"/>
          <p:cNvCxnSpPr/>
          <p:nvPr/>
        </p:nvCxnSpPr>
        <p:spPr>
          <a:xfrm>
            <a:off x="1567082" y="2295939"/>
            <a:ext cx="1454414" cy="27829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8" name="Google Shape;348;p14"/>
          <p:cNvSpPr txBox="1"/>
          <p:nvPr/>
        </p:nvSpPr>
        <p:spPr>
          <a:xfrm>
            <a:off x="2988842" y="2397926"/>
            <a:ext cx="1420582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이름</a:t>
            </a:r>
            <a:endParaRPr/>
          </a:p>
        </p:txBody>
      </p:sp>
      <p:cxnSp>
        <p:nvCxnSpPr>
          <p:cNvPr id="349" name="Google Shape;349;p14"/>
          <p:cNvCxnSpPr/>
          <p:nvPr/>
        </p:nvCxnSpPr>
        <p:spPr>
          <a:xfrm>
            <a:off x="1674744" y="2941743"/>
            <a:ext cx="480557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0" name="Google Shape;350;p14"/>
          <p:cNvSpPr txBox="1"/>
          <p:nvPr/>
        </p:nvSpPr>
        <p:spPr>
          <a:xfrm>
            <a:off x="6437774" y="2757078"/>
            <a:ext cx="1963999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등급 명칭</a:t>
            </a:r>
            <a:endParaRPr/>
          </a:p>
        </p:txBody>
      </p:sp>
      <p:cxnSp>
        <p:nvCxnSpPr>
          <p:cNvPr id="351" name="Google Shape;351;p14"/>
          <p:cNvCxnSpPr/>
          <p:nvPr/>
        </p:nvCxnSpPr>
        <p:spPr>
          <a:xfrm>
            <a:off x="1620912" y="3200401"/>
            <a:ext cx="1454414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2" name="Google Shape;352;p14"/>
          <p:cNvSpPr txBox="1"/>
          <p:nvPr/>
        </p:nvSpPr>
        <p:spPr>
          <a:xfrm>
            <a:off x="2988842" y="3015735"/>
            <a:ext cx="4397358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아이템 발견 장소(없을 시 –로 표시)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53" name="Google Shape;353;p14"/>
          <p:cNvCxnSpPr/>
          <p:nvPr/>
        </p:nvCxnSpPr>
        <p:spPr>
          <a:xfrm>
            <a:off x="2294290" y="3995530"/>
            <a:ext cx="4186025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4" name="Google Shape;354;p14"/>
          <p:cNvSpPr txBox="1"/>
          <p:nvPr/>
        </p:nvSpPr>
        <p:spPr>
          <a:xfrm>
            <a:off x="6437774" y="3810865"/>
            <a:ext cx="1963999" cy="369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부가 설명</a:t>
            </a:r>
            <a:endParaRPr/>
          </a:p>
        </p:txBody>
      </p:sp>
      <p:sp>
        <p:nvSpPr>
          <p:cNvPr id="355" name="Google Shape;355;p14"/>
          <p:cNvSpPr txBox="1"/>
          <p:nvPr/>
        </p:nvSpPr>
        <p:spPr>
          <a:xfrm>
            <a:off x="205368" y="4802523"/>
            <a:ext cx="2723428" cy="92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사용하는 아이템일 경우 아이템 정보창 하단에 [사용] 버튼 표시</a:t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3496904" y="4605995"/>
            <a:ext cx="4466287" cy="1755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아이템 등급은 총 7단계: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&lt;구하기 쉬운-------------구하기 어려운&gt;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lt1"/>
                </a:solidFill>
                <a:highlight>
                  <a:srgbClr val="000000"/>
                </a:highlight>
                <a:latin typeface="Malgun Gothic"/>
                <a:ea typeface="Malgun Gothic"/>
                <a:cs typeface="Malgun Gothic"/>
                <a:sym typeface="Malgun Gothic"/>
              </a:rPr>
              <a:t>[일반]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801">
                <a:solidFill>
                  <a:srgbClr val="43D658"/>
                </a:solidFill>
                <a:latin typeface="Malgun Gothic"/>
                <a:ea typeface="Malgun Gothic"/>
                <a:cs typeface="Malgun Gothic"/>
                <a:sym typeface="Malgun Gothic"/>
              </a:rPr>
              <a:t>[고급]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801">
                <a:solidFill>
                  <a:srgbClr val="00B0F0"/>
                </a:solidFill>
                <a:latin typeface="Malgun Gothic"/>
                <a:ea typeface="Malgun Gothic"/>
                <a:cs typeface="Malgun Gothic"/>
                <a:sym typeface="Malgun Gothic"/>
              </a:rPr>
              <a:t>[희귀]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801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[진귀]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801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[전설]</a:t>
            </a: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801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[신화]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논외(퀘스트 아이템): </a:t>
            </a:r>
            <a:r>
              <a:rPr lang="ko-KR" sz="1801">
                <a:solidFill>
                  <a:srgbClr val="FF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[귀중]</a:t>
            </a:r>
            <a:endParaRPr sz="1801">
              <a:solidFill>
                <a:srgbClr val="FF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2025-06-01T20:55:18Z</dcterms:created>
  <dc:creator>성우 김</dc:creator>
</cp:coreProperties>
</file>
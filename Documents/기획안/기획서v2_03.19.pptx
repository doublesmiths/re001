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72" r:id="rId3"/>
    <p:sldId id="259" r:id="rId4"/>
    <p:sldId id="270" r:id="rId5"/>
    <p:sldId id="273" r:id="rId6"/>
    <p:sldId id="269" r:id="rId7"/>
    <p:sldId id="268" r:id="rId8"/>
    <p:sldId id="271" r:id="rId9"/>
    <p:sldId id="27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00FF00"/>
    <a:srgbClr val="000000"/>
    <a:srgbClr val="181818"/>
    <a:srgbClr val="FBBB05"/>
    <a:srgbClr val="008C00"/>
    <a:srgbClr val="FF9900"/>
    <a:srgbClr val="F8C376"/>
    <a:srgbClr val="FFC8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16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45F0E5A7-4792-3135-5C83-8971A1058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146032c3_0_5:notes">
            <a:extLst>
              <a:ext uri="{FF2B5EF4-FFF2-40B4-BE49-F238E27FC236}">
                <a16:creationId xmlns:a16="http://schemas.microsoft.com/office/drawing/2014/main" id="{02FFEB97-0746-A1D7-C4C1-7795A679D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146032c3_0_5:notes">
            <a:extLst>
              <a:ext uri="{FF2B5EF4-FFF2-40B4-BE49-F238E27FC236}">
                <a16:creationId xmlns:a16="http://schemas.microsoft.com/office/drawing/2014/main" id="{27D75675-A035-E03D-0B42-11B4EA75D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9816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146032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146032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0834753-3D80-27E5-A044-6BAA12CFB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146032c3_0_5:notes">
            <a:extLst>
              <a:ext uri="{FF2B5EF4-FFF2-40B4-BE49-F238E27FC236}">
                <a16:creationId xmlns:a16="http://schemas.microsoft.com/office/drawing/2014/main" id="{23775082-0C1E-E31F-B13B-43FF02793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146032c3_0_5:notes">
            <a:extLst>
              <a:ext uri="{FF2B5EF4-FFF2-40B4-BE49-F238E27FC236}">
                <a16:creationId xmlns:a16="http://schemas.microsoft.com/office/drawing/2014/main" id="{8DF3642B-AC4E-3E09-59A5-386D21304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133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8508C20-915F-40B9-465E-0EC3B192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146032c3_0_5:notes">
            <a:extLst>
              <a:ext uri="{FF2B5EF4-FFF2-40B4-BE49-F238E27FC236}">
                <a16:creationId xmlns:a16="http://schemas.microsoft.com/office/drawing/2014/main" id="{A6BA1711-689F-03FA-6D34-9F0F79A31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146032c3_0_5:notes">
            <a:extLst>
              <a:ext uri="{FF2B5EF4-FFF2-40B4-BE49-F238E27FC236}">
                <a16:creationId xmlns:a16="http://schemas.microsoft.com/office/drawing/2014/main" id="{CAD40CB9-C1D4-9F72-D350-F15AC7675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134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85BE039-434A-3B45-E4E9-48AE64E9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146032c3_0_5:notes">
            <a:extLst>
              <a:ext uri="{FF2B5EF4-FFF2-40B4-BE49-F238E27FC236}">
                <a16:creationId xmlns:a16="http://schemas.microsoft.com/office/drawing/2014/main" id="{C0C1ABF8-4EA7-0BC2-B1C6-45E7DBEEF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146032c3_0_5:notes">
            <a:extLst>
              <a:ext uri="{FF2B5EF4-FFF2-40B4-BE49-F238E27FC236}">
                <a16:creationId xmlns:a16="http://schemas.microsoft.com/office/drawing/2014/main" id="{B187AD61-668E-E347-B437-F81FC13824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2103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DA604E7-7B7C-3D07-370F-3EADE0F6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146032c3_0_5:notes">
            <a:extLst>
              <a:ext uri="{FF2B5EF4-FFF2-40B4-BE49-F238E27FC236}">
                <a16:creationId xmlns:a16="http://schemas.microsoft.com/office/drawing/2014/main" id="{E6B4A592-3717-33FF-50B6-7973AFA39F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146032c3_0_5:notes">
            <a:extLst>
              <a:ext uri="{FF2B5EF4-FFF2-40B4-BE49-F238E27FC236}">
                <a16:creationId xmlns:a16="http://schemas.microsoft.com/office/drawing/2014/main" id="{8D5AD579-7FBD-84B8-1DC5-78B03E1AD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982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E65D2149-8606-08A6-9A53-DFAA8B69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146032c3_0_5:notes">
            <a:extLst>
              <a:ext uri="{FF2B5EF4-FFF2-40B4-BE49-F238E27FC236}">
                <a16:creationId xmlns:a16="http://schemas.microsoft.com/office/drawing/2014/main" id="{C619007E-44BC-CBEE-C996-EE51D8D1C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146032c3_0_5:notes">
            <a:extLst>
              <a:ext uri="{FF2B5EF4-FFF2-40B4-BE49-F238E27FC236}">
                <a16:creationId xmlns:a16="http://schemas.microsoft.com/office/drawing/2014/main" id="{F0535775-22EC-51F6-D6EF-441949FBB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457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E1C8F76-35F8-A2DC-E437-93C5B177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2146032c3_0_5:notes">
            <a:extLst>
              <a:ext uri="{FF2B5EF4-FFF2-40B4-BE49-F238E27FC236}">
                <a16:creationId xmlns:a16="http://schemas.microsoft.com/office/drawing/2014/main" id="{6B54511C-E3E0-ACC5-6B5A-F4414B0A9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2146032c3_0_5:notes">
            <a:extLst>
              <a:ext uri="{FF2B5EF4-FFF2-40B4-BE49-F238E27FC236}">
                <a16:creationId xmlns:a16="http://schemas.microsoft.com/office/drawing/2014/main" id="{F932630D-8C63-7067-3C4A-805D4481C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846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gif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gif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gif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11" Type="http://schemas.openxmlformats.org/officeDocument/2006/relationships/image" Target="../media/image27.gif"/><Relationship Id="rId5" Type="http://schemas.openxmlformats.org/officeDocument/2006/relationships/image" Target="../media/image22.png"/><Relationship Id="rId10" Type="http://schemas.openxmlformats.org/officeDocument/2006/relationships/image" Target="../media/image8.gif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gif"/><Relationship Id="rId5" Type="http://schemas.openxmlformats.org/officeDocument/2006/relationships/image" Target="../media/image30.png"/><Relationship Id="rId4" Type="http://schemas.openxmlformats.org/officeDocument/2006/relationships/image" Target="../media/image2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microsoft.com/office/2007/relationships/hdphoto" Target="../media/hdphoto1.wdp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image" Target="../media/image2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11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8.png"/><Relationship Id="rId4" Type="http://schemas.openxmlformats.org/officeDocument/2006/relationships/image" Target="../media/image22.png"/><Relationship Id="rId9" Type="http://schemas.openxmlformats.org/officeDocument/2006/relationships/image" Target="../media/image37.png"/><Relationship Id="rId14" Type="http://schemas.openxmlformats.org/officeDocument/2006/relationships/image" Target="../media/image17.g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601ACD-C8FF-FA6C-B185-8B688B4E8227}"/>
              </a:ext>
            </a:extLst>
          </p:cNvPr>
          <p:cNvSpPr txBox="1"/>
          <p:nvPr/>
        </p:nvSpPr>
        <p:spPr>
          <a:xfrm>
            <a:off x="2449463" y="2140863"/>
            <a:ext cx="424507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0" dirty="0">
                <a:solidFill>
                  <a:schemeClr val="tx1"/>
                </a:solidFill>
              </a:rPr>
              <a:t>RE001 </a:t>
            </a:r>
            <a:r>
              <a:rPr lang="ko-KR" altLang="en-US" sz="5000" dirty="0">
                <a:solidFill>
                  <a:schemeClr val="tx1"/>
                </a:solidFill>
              </a:rPr>
              <a:t>기획서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61182-6F6E-8C8F-C8C7-146E04BB8597}"/>
              </a:ext>
            </a:extLst>
          </p:cNvPr>
          <p:cNvSpPr txBox="1"/>
          <p:nvPr/>
        </p:nvSpPr>
        <p:spPr>
          <a:xfrm>
            <a:off x="8064858" y="4835723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2026.03.19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8941CB4-DFFF-E498-AF42-A03F7407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;p17">
            <a:extLst>
              <a:ext uri="{FF2B5EF4-FFF2-40B4-BE49-F238E27FC236}">
                <a16:creationId xmlns:a16="http://schemas.microsoft.com/office/drawing/2014/main" id="{D3F4825B-732D-6736-1DAD-F651535718A3}"/>
              </a:ext>
            </a:extLst>
          </p:cNvPr>
          <p:cNvSpPr/>
          <p:nvPr/>
        </p:nvSpPr>
        <p:spPr>
          <a:xfrm rot="10800000">
            <a:off x="0" y="-100"/>
            <a:ext cx="9144000" cy="3021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73737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5;p17">
            <a:extLst>
              <a:ext uri="{FF2B5EF4-FFF2-40B4-BE49-F238E27FC236}">
                <a16:creationId xmlns:a16="http://schemas.microsoft.com/office/drawing/2014/main" id="{8DEEF0DC-32A0-F953-35A7-735D94070106}"/>
              </a:ext>
            </a:extLst>
          </p:cNvPr>
          <p:cNvSpPr txBox="1"/>
          <p:nvPr/>
        </p:nvSpPr>
        <p:spPr>
          <a:xfrm>
            <a:off x="10821" y="8325"/>
            <a:ext cx="3044799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500" dirty="0">
                <a:solidFill>
                  <a:srgbClr val="FFFFFF"/>
                </a:solidFill>
              </a:rPr>
              <a:t>Font </a:t>
            </a:r>
            <a:r>
              <a:rPr lang="ko-KR" altLang="en-US" sz="1500" dirty="0">
                <a:solidFill>
                  <a:srgbClr val="FFFFFF"/>
                </a:solidFill>
              </a:rPr>
              <a:t>설정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5" name="Google Shape;325;p30">
            <a:extLst>
              <a:ext uri="{FF2B5EF4-FFF2-40B4-BE49-F238E27FC236}">
                <a16:creationId xmlns:a16="http://schemas.microsoft.com/office/drawing/2014/main" id="{D5109A14-4447-4936-CA2F-F4E13789C60A}"/>
              </a:ext>
            </a:extLst>
          </p:cNvPr>
          <p:cNvSpPr txBox="1"/>
          <p:nvPr/>
        </p:nvSpPr>
        <p:spPr>
          <a:xfrm>
            <a:off x="10821" y="4605837"/>
            <a:ext cx="9144000" cy="5864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dirty="0">
              <a:solidFill>
                <a:srgbClr val="00FF00"/>
              </a:solidFill>
            </a:endParaRPr>
          </a:p>
        </p:txBody>
      </p:sp>
      <p:sp>
        <p:nvSpPr>
          <p:cNvPr id="15" name="Google Shape;76;p17">
            <a:extLst>
              <a:ext uri="{FF2B5EF4-FFF2-40B4-BE49-F238E27FC236}">
                <a16:creationId xmlns:a16="http://schemas.microsoft.com/office/drawing/2014/main" id="{A2B33C2C-4457-4F0C-22DF-922F1F1B9FCD}"/>
              </a:ext>
            </a:extLst>
          </p:cNvPr>
          <p:cNvSpPr txBox="1"/>
          <p:nvPr/>
        </p:nvSpPr>
        <p:spPr>
          <a:xfrm>
            <a:off x="9275" y="325650"/>
            <a:ext cx="34887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Char char="-"/>
            </a:pPr>
            <a:r>
              <a:rPr lang="en-US" sz="900" b="1" dirty="0">
                <a:solidFill>
                  <a:srgbClr val="999999"/>
                </a:solidFill>
              </a:rPr>
              <a:t>INGAME </a:t>
            </a:r>
            <a:r>
              <a:rPr lang="ko-KR" altLang="en-US" sz="900" b="1" dirty="0">
                <a:solidFill>
                  <a:srgbClr val="999999"/>
                </a:solidFill>
              </a:rPr>
              <a:t>사용 폰트</a:t>
            </a:r>
            <a:endParaRPr sz="1100" b="1" dirty="0">
              <a:solidFill>
                <a:srgbClr val="999999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94A277-64CF-3759-1C4B-C3ED222EA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66" y="909614"/>
            <a:ext cx="1105054" cy="3429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49690D-BBF0-D932-392C-8AE407C1B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009" y="951401"/>
            <a:ext cx="1105054" cy="2896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C8476E5-D19D-A00A-109C-F06B5E50C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097" y="947847"/>
            <a:ext cx="1069916" cy="289601"/>
          </a:xfrm>
          <a:prstGeom prst="rect">
            <a:avLst/>
          </a:prstGeom>
        </p:spPr>
      </p:pic>
      <p:sp>
        <p:nvSpPr>
          <p:cNvPr id="17" name="Google Shape;90;p17">
            <a:extLst>
              <a:ext uri="{FF2B5EF4-FFF2-40B4-BE49-F238E27FC236}">
                <a16:creationId xmlns:a16="http://schemas.microsoft.com/office/drawing/2014/main" id="{C0DC338C-89D2-5579-9AA0-9D00B613BD50}"/>
              </a:ext>
            </a:extLst>
          </p:cNvPr>
          <p:cNvSpPr txBox="1"/>
          <p:nvPr/>
        </p:nvSpPr>
        <p:spPr>
          <a:xfrm>
            <a:off x="423372" y="785072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Cafe24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Google Shape;90;p17">
            <a:extLst>
              <a:ext uri="{FF2B5EF4-FFF2-40B4-BE49-F238E27FC236}">
                <a16:creationId xmlns:a16="http://schemas.microsoft.com/office/drawing/2014/main" id="{4C68922D-C15E-A76A-6BD2-3706E0C3EF28}"/>
              </a:ext>
            </a:extLst>
          </p:cNvPr>
          <p:cNvSpPr txBox="1"/>
          <p:nvPr/>
        </p:nvSpPr>
        <p:spPr>
          <a:xfrm>
            <a:off x="2234224" y="800114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DOSSaemmul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Google Shape;90;p17">
            <a:extLst>
              <a:ext uri="{FF2B5EF4-FFF2-40B4-BE49-F238E27FC236}">
                <a16:creationId xmlns:a16="http://schemas.microsoft.com/office/drawing/2014/main" id="{B55C47B8-2576-669D-D0DB-3C61D3CA431F}"/>
              </a:ext>
            </a:extLst>
          </p:cNvPr>
          <p:cNvSpPr txBox="1"/>
          <p:nvPr/>
        </p:nvSpPr>
        <p:spPr>
          <a:xfrm>
            <a:off x="4329106" y="800114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PF_Stardust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2F104B-F77C-31C1-C9F5-00D733A8054C}"/>
              </a:ext>
            </a:extLst>
          </p:cNvPr>
          <p:cNvSpPr txBox="1"/>
          <p:nvPr/>
        </p:nvSpPr>
        <p:spPr>
          <a:xfrm>
            <a:off x="423372" y="1334536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사용처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 Dialogue Texts.</a:t>
            </a:r>
          </a:p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  →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NPC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와 대화할 때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  → </a:t>
            </a:r>
            <a:r>
              <a:rPr lang="ko-KR" altLang="en-US" sz="700" dirty="0">
                <a:solidFill>
                  <a:schemeClr val="tx1"/>
                </a:solidFill>
              </a:rPr>
              <a:t>영</a:t>
            </a:r>
            <a:r>
              <a:rPr lang="en-US" altLang="ko-KR" sz="700" dirty="0">
                <a:solidFill>
                  <a:schemeClr val="tx1"/>
                </a:solidFill>
              </a:rPr>
              <a:t>/</a:t>
            </a:r>
            <a:r>
              <a:rPr lang="ko-KR" altLang="en-US" sz="700" dirty="0">
                <a:solidFill>
                  <a:schemeClr val="tx1"/>
                </a:solidFill>
              </a:rPr>
              <a:t>한 동일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A68133-941B-0EB4-6922-A490D26804AA}"/>
              </a:ext>
            </a:extLst>
          </p:cNvPr>
          <p:cNvSpPr txBox="1"/>
          <p:nvPr/>
        </p:nvSpPr>
        <p:spPr>
          <a:xfrm>
            <a:off x="2234224" y="1334536"/>
            <a:ext cx="2042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사용처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언어선택을 </a:t>
            </a:r>
            <a:r>
              <a:rPr lang="ko-KR" altLang="en-US" sz="700" dirty="0">
                <a:solidFill>
                  <a:schemeClr val="tx1"/>
                </a:solidFill>
              </a:rPr>
              <a:t>영어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로 했을 때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 Dialogue Texts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와 숫자들을 제외한 모든 부분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  →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Menu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명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, Item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명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, Description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등등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367D62-BD34-CF52-9BB9-6910CC49B31F}"/>
              </a:ext>
            </a:extLst>
          </p:cNvPr>
          <p:cNvSpPr txBox="1"/>
          <p:nvPr/>
        </p:nvSpPr>
        <p:spPr>
          <a:xfrm>
            <a:off x="4329106" y="1334536"/>
            <a:ext cx="2042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사용처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언어선택을 </a:t>
            </a:r>
            <a:r>
              <a:rPr lang="ko-KR" altLang="en-US" sz="700" dirty="0">
                <a:solidFill>
                  <a:schemeClr val="tx1"/>
                </a:solidFill>
              </a:rPr>
              <a:t>한글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로 했을 때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 Dialogue Texts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와 숫자들을 제외한 모든 부분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  →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Menu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명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, Item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명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, Description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등등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1CCDA22-153D-0EEC-C461-43B1CD02FF87}"/>
              </a:ext>
            </a:extLst>
          </p:cNvPr>
          <p:cNvCxnSpPr/>
          <p:nvPr/>
        </p:nvCxnSpPr>
        <p:spPr>
          <a:xfrm>
            <a:off x="929514" y="2010169"/>
            <a:ext cx="0" cy="1511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B55DD41-57C0-8C6B-F032-74FB33DD5E3A}"/>
              </a:ext>
            </a:extLst>
          </p:cNvPr>
          <p:cNvCxnSpPr/>
          <p:nvPr/>
        </p:nvCxnSpPr>
        <p:spPr>
          <a:xfrm>
            <a:off x="5032979" y="2010169"/>
            <a:ext cx="0" cy="1511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C0178B-1B8C-9C55-43A5-E0598CCB3EE3}"/>
              </a:ext>
            </a:extLst>
          </p:cNvPr>
          <p:cNvCxnSpPr/>
          <p:nvPr/>
        </p:nvCxnSpPr>
        <p:spPr>
          <a:xfrm>
            <a:off x="929514" y="2161309"/>
            <a:ext cx="410346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B78CA40-55D0-15B4-4C3A-F37A2113FB98}"/>
              </a:ext>
            </a:extLst>
          </p:cNvPr>
          <p:cNvCxnSpPr/>
          <p:nvPr/>
        </p:nvCxnSpPr>
        <p:spPr>
          <a:xfrm>
            <a:off x="3041923" y="2161309"/>
            <a:ext cx="0" cy="1511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8239EA4-CCFD-2CC2-A780-2307E05E4E2E}"/>
              </a:ext>
            </a:extLst>
          </p:cNvPr>
          <p:cNvSpPr txBox="1"/>
          <p:nvPr/>
        </p:nvSpPr>
        <p:spPr>
          <a:xfrm>
            <a:off x="1728903" y="2369523"/>
            <a:ext cx="2626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solidFill>
                  <a:srgbClr val="FFFF00"/>
                </a:solidFill>
              </a:rPr>
              <a:t>INGAME</a:t>
            </a:r>
            <a:r>
              <a:rPr lang="ko-KR" altLang="en-US" sz="700" dirty="0">
                <a:solidFill>
                  <a:srgbClr val="FFFF00"/>
                </a:solidFill>
              </a:rPr>
              <a:t>의 모든 숫자 </a:t>
            </a:r>
            <a:r>
              <a:rPr lang="en-US" altLang="ko-KR" sz="700" dirty="0">
                <a:solidFill>
                  <a:srgbClr val="FFFF00"/>
                </a:solidFill>
              </a:rPr>
              <a:t>TEXT</a:t>
            </a:r>
            <a:r>
              <a:rPr lang="ko-KR" altLang="en-US" sz="700" dirty="0">
                <a:solidFill>
                  <a:srgbClr val="FFFF00"/>
                </a:solidFill>
              </a:rPr>
              <a:t>들의 </a:t>
            </a:r>
            <a:r>
              <a:rPr lang="en-US" altLang="ko-KR" sz="700" dirty="0">
                <a:solidFill>
                  <a:srgbClr val="FFFF00"/>
                </a:solidFill>
              </a:rPr>
              <a:t>FONT</a:t>
            </a:r>
            <a:r>
              <a:rPr lang="ko-KR" altLang="en-US" sz="700" dirty="0">
                <a:solidFill>
                  <a:srgbClr val="FFFF00"/>
                </a:solidFill>
              </a:rPr>
              <a:t>는 지정되며 고정된다</a:t>
            </a:r>
            <a:r>
              <a:rPr lang="en-US" altLang="ko-KR" sz="700" dirty="0">
                <a:solidFill>
                  <a:srgbClr val="FFFF00"/>
                </a:solidFill>
              </a:rPr>
              <a:t>.</a:t>
            </a:r>
          </a:p>
          <a:p>
            <a:pPr algn="ctr"/>
            <a:r>
              <a:rPr lang="ko-KR" altLang="en-US" sz="700" dirty="0">
                <a:solidFill>
                  <a:srgbClr val="FFFF00"/>
                </a:solidFill>
              </a:rPr>
              <a:t>언어선택과 무관</a:t>
            </a:r>
            <a:r>
              <a:rPr lang="en-US" altLang="ko-KR" sz="700" dirty="0">
                <a:solidFill>
                  <a:srgbClr val="FFFF00"/>
                </a:solidFill>
              </a:rPr>
              <a:t>.</a:t>
            </a:r>
            <a:endParaRPr lang="ko-KR" altLang="en-US" sz="700" dirty="0">
              <a:solidFill>
                <a:srgbClr val="FFFF00"/>
              </a:solidFill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4FA4E134-0E9E-FE4E-87DA-201FD6DB18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82" y="3239244"/>
            <a:ext cx="551433" cy="347286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226A9AF0-656E-5C38-8D63-D8CD0898EF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628" y="3219503"/>
            <a:ext cx="813619" cy="387002"/>
          </a:xfrm>
          <a:prstGeom prst="rect">
            <a:avLst/>
          </a:prstGeom>
        </p:spPr>
      </p:pic>
      <p:sp>
        <p:nvSpPr>
          <p:cNvPr id="69" name="Google Shape;90;p17">
            <a:extLst>
              <a:ext uri="{FF2B5EF4-FFF2-40B4-BE49-F238E27FC236}">
                <a16:creationId xmlns:a16="http://schemas.microsoft.com/office/drawing/2014/main" id="{B91EC948-40E3-FA3D-748B-7D8C0B17D64F}"/>
              </a:ext>
            </a:extLst>
          </p:cNvPr>
          <p:cNvSpPr txBox="1"/>
          <p:nvPr/>
        </p:nvSpPr>
        <p:spPr>
          <a:xfrm>
            <a:off x="460433" y="3068415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Outline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FB684E-F057-95F4-6B1F-E2DFBD2DA935}"/>
              </a:ext>
            </a:extLst>
          </p:cNvPr>
          <p:cNvSpPr txBox="1"/>
          <p:nvPr/>
        </p:nvSpPr>
        <p:spPr>
          <a:xfrm>
            <a:off x="423372" y="3654027"/>
            <a:ext cx="4152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700" dirty="0">
                <a:solidFill>
                  <a:schemeClr val="tx1"/>
                </a:solidFill>
              </a:rPr>
              <a:t>모든 </a:t>
            </a:r>
            <a:r>
              <a:rPr lang="en-US" altLang="ko-KR" sz="700" dirty="0">
                <a:solidFill>
                  <a:schemeClr val="tx1"/>
                </a:solidFill>
              </a:rPr>
              <a:t>TEXT</a:t>
            </a:r>
            <a:r>
              <a:rPr lang="ko-KR" altLang="en-US" sz="700" dirty="0">
                <a:solidFill>
                  <a:schemeClr val="tx1"/>
                </a:solidFill>
              </a:rPr>
              <a:t>는 특별한 언급이 없을 시 검은색</a:t>
            </a:r>
            <a:r>
              <a:rPr lang="en-US" altLang="ko-KR" sz="700" dirty="0">
                <a:solidFill>
                  <a:schemeClr val="tx1"/>
                </a:solidFill>
              </a:rPr>
              <a:t> OUTLINE</a:t>
            </a:r>
            <a:r>
              <a:rPr lang="ko-KR" altLang="en-US" sz="700" dirty="0">
                <a:solidFill>
                  <a:schemeClr val="tx1"/>
                </a:solidFill>
              </a:rPr>
              <a:t>이 들어가게 된다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만약 해당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TEXT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에 색이 다른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OUTLINE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을 사용하게 될 경우 해당 부분의 기획서에 명시가 되어있다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FC4E0FC4-ADE2-2D27-5106-FA32CC1A24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4362" y="3219503"/>
            <a:ext cx="2442448" cy="708871"/>
          </a:xfrm>
          <a:prstGeom prst="rect">
            <a:avLst/>
          </a:prstGeom>
        </p:spPr>
      </p:pic>
      <p:sp>
        <p:nvSpPr>
          <p:cNvPr id="73" name="Google Shape;90;p17">
            <a:extLst>
              <a:ext uri="{FF2B5EF4-FFF2-40B4-BE49-F238E27FC236}">
                <a16:creationId xmlns:a16="http://schemas.microsoft.com/office/drawing/2014/main" id="{BED95528-85E4-B132-582D-B67C2878F786}"/>
              </a:ext>
            </a:extLst>
          </p:cNvPr>
          <p:cNvSpPr txBox="1"/>
          <p:nvPr/>
        </p:nvSpPr>
        <p:spPr>
          <a:xfrm>
            <a:off x="5070764" y="3068415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b="1" u="sng" dirty="0">
                <a:solidFill>
                  <a:srgbClr val="FF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예외처리</a:t>
            </a:r>
            <a:endParaRPr sz="700" b="1" u="sng" dirty="0">
              <a:solidFill>
                <a:srgbClr val="FF66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7FE541C-EA1A-DC90-3263-53463B5D7205}"/>
              </a:ext>
            </a:extLst>
          </p:cNvPr>
          <p:cNvSpPr/>
          <p:nvPr/>
        </p:nvSpPr>
        <p:spPr>
          <a:xfrm>
            <a:off x="6310116" y="3302420"/>
            <a:ext cx="400522" cy="211597"/>
          </a:xfrm>
          <a:prstGeom prst="rect">
            <a:avLst/>
          </a:prstGeom>
          <a:noFill/>
          <a:ln w="57150">
            <a:solidFill>
              <a:srgbClr val="FF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E1CC6B-5872-2BA8-87D8-40EEF9892FCF}"/>
              </a:ext>
            </a:extLst>
          </p:cNvPr>
          <p:cNvSpPr txBox="1"/>
          <p:nvPr/>
        </p:nvSpPr>
        <p:spPr>
          <a:xfrm>
            <a:off x="5144362" y="3955112"/>
            <a:ext cx="3658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단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, Player Bar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에 표기된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Level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정보만 언어 선택에 상관없이 고정으로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Lv.#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로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표기하며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-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환경설정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Popup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의 언어 선택부분도 고정으로 표기한다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C30F3D0A-9C74-3159-6682-F746545A80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1991" y="785072"/>
            <a:ext cx="1102817" cy="185782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BD72ED51-14DE-B431-8212-0E7B29BC326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7108" t="25840" r="14398" b="57511"/>
          <a:stretch>
            <a:fillRect/>
          </a:stretch>
        </p:blipFill>
        <p:spPr>
          <a:xfrm>
            <a:off x="7667586" y="3219502"/>
            <a:ext cx="1135150" cy="68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6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;p17">
            <a:extLst>
              <a:ext uri="{FF2B5EF4-FFF2-40B4-BE49-F238E27FC236}">
                <a16:creationId xmlns:a16="http://schemas.microsoft.com/office/drawing/2014/main" id="{D8FEB8AF-C10D-DBD5-CFA7-582E827201C0}"/>
              </a:ext>
            </a:extLst>
          </p:cNvPr>
          <p:cNvSpPr/>
          <p:nvPr/>
        </p:nvSpPr>
        <p:spPr>
          <a:xfrm rot="10800000">
            <a:off x="0" y="-100"/>
            <a:ext cx="9144000" cy="3021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73737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5;p17">
            <a:extLst>
              <a:ext uri="{FF2B5EF4-FFF2-40B4-BE49-F238E27FC236}">
                <a16:creationId xmlns:a16="http://schemas.microsoft.com/office/drawing/2014/main" id="{FDF288DF-6ED7-19C4-9FFA-F254C63D2F5F}"/>
              </a:ext>
            </a:extLst>
          </p:cNvPr>
          <p:cNvSpPr txBox="1"/>
          <p:nvPr/>
        </p:nvSpPr>
        <p:spPr>
          <a:xfrm>
            <a:off x="10821" y="8325"/>
            <a:ext cx="3044799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1500" dirty="0">
                <a:solidFill>
                  <a:srgbClr val="FFFFFF"/>
                </a:solidFill>
              </a:rPr>
              <a:t>상단 재화 </a:t>
            </a:r>
            <a:r>
              <a:rPr lang="en-US" altLang="ko-KR" sz="1500" dirty="0">
                <a:solidFill>
                  <a:srgbClr val="FFFFFF"/>
                </a:solidFill>
              </a:rPr>
              <a:t>BAR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5" name="Google Shape;325;p30">
            <a:extLst>
              <a:ext uri="{FF2B5EF4-FFF2-40B4-BE49-F238E27FC236}">
                <a16:creationId xmlns:a16="http://schemas.microsoft.com/office/drawing/2014/main" id="{61BDC148-60AF-9E0C-36A5-EEFAB8BE2B9A}"/>
              </a:ext>
            </a:extLst>
          </p:cNvPr>
          <p:cNvSpPr txBox="1"/>
          <p:nvPr/>
        </p:nvSpPr>
        <p:spPr>
          <a:xfrm>
            <a:off x="10821" y="4605837"/>
            <a:ext cx="9144000" cy="5864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dirty="0">
              <a:solidFill>
                <a:srgbClr val="00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E6E34-06BA-EC41-5699-F04C923E9166}"/>
              </a:ext>
            </a:extLst>
          </p:cNvPr>
          <p:cNvSpPr txBox="1"/>
          <p:nvPr/>
        </p:nvSpPr>
        <p:spPr>
          <a:xfrm>
            <a:off x="345599" y="310427"/>
            <a:ext cx="24545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9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플레이어의 보유 </a:t>
            </a:r>
            <a:r>
              <a:rPr lang="ko-KR" altLang="en-US" sz="9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재화량을</a:t>
            </a:r>
            <a:r>
              <a:rPr lang="ko-KR" altLang="en-US" sz="9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보여주는 </a:t>
            </a:r>
            <a:r>
              <a:rPr lang="en-US" altLang="ko-KR" sz="9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BAR</a:t>
            </a:r>
            <a:endParaRPr lang="ko-KR" altLang="en-US" sz="9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Google Shape;931;p69">
            <a:extLst>
              <a:ext uri="{FF2B5EF4-FFF2-40B4-BE49-F238E27FC236}">
                <a16:creationId xmlns:a16="http://schemas.microsoft.com/office/drawing/2014/main" id="{D553DE0F-5B2A-9EE3-6324-7E32AE7B5144}"/>
              </a:ext>
            </a:extLst>
          </p:cNvPr>
          <p:cNvSpPr txBox="1"/>
          <p:nvPr/>
        </p:nvSpPr>
        <p:spPr>
          <a:xfrm>
            <a:off x="239866" y="1909767"/>
            <a:ext cx="475861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>
                <a:solidFill>
                  <a:srgbClr val="FFFF00"/>
                </a:solidFill>
              </a:rPr>
              <a:t>Icon38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931;p69">
            <a:extLst>
              <a:ext uri="{FF2B5EF4-FFF2-40B4-BE49-F238E27FC236}">
                <a16:creationId xmlns:a16="http://schemas.microsoft.com/office/drawing/2014/main" id="{2CB42B38-0DD2-ED6E-52E1-46700A371935}"/>
              </a:ext>
            </a:extLst>
          </p:cNvPr>
          <p:cNvSpPr txBox="1"/>
          <p:nvPr/>
        </p:nvSpPr>
        <p:spPr>
          <a:xfrm>
            <a:off x="790711" y="1909767"/>
            <a:ext cx="475861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>
                <a:solidFill>
                  <a:srgbClr val="FFFF00"/>
                </a:solidFill>
              </a:rPr>
              <a:t>Icon25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37D6A74-E03C-7A2F-CCE2-AB50B4DDB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01" y="2055714"/>
            <a:ext cx="252000" cy="2520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7A94311-7F79-C579-75AD-232CC112C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64" y="2055714"/>
            <a:ext cx="252000" cy="252000"/>
          </a:xfrm>
          <a:prstGeom prst="rect">
            <a:avLst/>
          </a:prstGeom>
        </p:spPr>
      </p:pic>
      <p:sp>
        <p:nvSpPr>
          <p:cNvPr id="33" name="Google Shape;931;p69">
            <a:extLst>
              <a:ext uri="{FF2B5EF4-FFF2-40B4-BE49-F238E27FC236}">
                <a16:creationId xmlns:a16="http://schemas.microsoft.com/office/drawing/2014/main" id="{AB672B22-4049-7E3D-06AD-B3F5FA84CF5E}"/>
              </a:ext>
            </a:extLst>
          </p:cNvPr>
          <p:cNvSpPr txBox="1"/>
          <p:nvPr/>
        </p:nvSpPr>
        <p:spPr>
          <a:xfrm>
            <a:off x="254907" y="1412801"/>
            <a:ext cx="1425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>
                <a:solidFill>
                  <a:srgbClr val="FFFF00"/>
                </a:solidFill>
              </a:rPr>
              <a:t>1_basic_button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5AB0C354-D122-A28B-4689-B241B9548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569" y="1581401"/>
            <a:ext cx="1157165" cy="259205"/>
          </a:xfrm>
          <a:prstGeom prst="rect">
            <a:avLst/>
          </a:prstGeom>
        </p:spPr>
      </p:pic>
      <p:sp>
        <p:nvSpPr>
          <p:cNvPr id="37" name="Google Shape;931;p69">
            <a:extLst>
              <a:ext uri="{FF2B5EF4-FFF2-40B4-BE49-F238E27FC236}">
                <a16:creationId xmlns:a16="http://schemas.microsoft.com/office/drawing/2014/main" id="{9D0FBF5F-F95F-48AC-4D65-FF86DF027F8C}"/>
              </a:ext>
            </a:extLst>
          </p:cNvPr>
          <p:cNvSpPr txBox="1"/>
          <p:nvPr/>
        </p:nvSpPr>
        <p:spPr>
          <a:xfrm>
            <a:off x="1316756" y="1909767"/>
            <a:ext cx="550918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>
                <a:solidFill>
                  <a:srgbClr val="FFFF00"/>
                </a:solidFill>
              </a:rPr>
              <a:t>1_armor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446C7560-7ED9-C3C3-C55E-BE0945D17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6215" y="2071064"/>
            <a:ext cx="252000" cy="2520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B18EF3D-FF43-71AC-4EC8-4E731C7AB0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163" y="739856"/>
            <a:ext cx="2725656" cy="279555"/>
          </a:xfrm>
          <a:prstGeom prst="rect">
            <a:avLst/>
          </a:prstGeom>
        </p:spPr>
      </p:pic>
      <p:sp>
        <p:nvSpPr>
          <p:cNvPr id="43" name="Google Shape;90;p17">
            <a:extLst>
              <a:ext uri="{FF2B5EF4-FFF2-40B4-BE49-F238E27FC236}">
                <a16:creationId xmlns:a16="http://schemas.microsoft.com/office/drawing/2014/main" id="{507259F4-554C-5C44-8CA8-2028F0D79123}"/>
              </a:ext>
            </a:extLst>
          </p:cNvPr>
          <p:cNvSpPr txBox="1"/>
          <p:nvPr/>
        </p:nvSpPr>
        <p:spPr>
          <a:xfrm>
            <a:off x="1083191" y="1074094"/>
            <a:ext cx="900058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인게임</a:t>
            </a:r>
            <a:r>
              <a:rPr lang="ko-KR" alt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적용 모습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9FEDC6-8FAE-DB14-C583-2F98554BD903}"/>
              </a:ext>
            </a:extLst>
          </p:cNvPr>
          <p:cNvSpPr txBox="1"/>
          <p:nvPr/>
        </p:nvSpPr>
        <p:spPr>
          <a:xfrm>
            <a:off x="306703" y="2756786"/>
            <a:ext cx="2020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금화 </a:t>
            </a:r>
            <a:r>
              <a:rPr lang="en-US" altLang="ko-KR" sz="700" dirty="0">
                <a:solidFill>
                  <a:schemeClr val="tx1"/>
                </a:solidFill>
              </a:rPr>
              <a:t>TEXT</a:t>
            </a:r>
          </a:p>
          <a:p>
            <a:pPr marL="342900" indent="-342900">
              <a:buAutoNum type="arabicPeriod"/>
            </a:pPr>
            <a:r>
              <a:rPr lang="en-US" altLang="ko-KR" sz="700" dirty="0">
                <a:solidFill>
                  <a:schemeClr val="tx1"/>
                </a:solidFill>
              </a:rPr>
              <a:t>Font: </a:t>
            </a:r>
            <a:r>
              <a:rPr lang="en-US" altLang="ko-KR" sz="700" dirty="0" err="1">
                <a:solidFill>
                  <a:schemeClr val="tx1"/>
                </a:solidFill>
              </a:rPr>
              <a:t>PF_Stardust</a:t>
            </a:r>
            <a:r>
              <a:rPr lang="en-US" altLang="ko-KR" sz="700" dirty="0">
                <a:solidFill>
                  <a:schemeClr val="tx1"/>
                </a:solidFill>
              </a:rPr>
              <a:t> (</a:t>
            </a:r>
            <a:r>
              <a:rPr lang="ko-KR" altLang="en-US" sz="700" dirty="0">
                <a:solidFill>
                  <a:schemeClr val="tx1"/>
                </a:solidFill>
              </a:rPr>
              <a:t>고정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en-US" altLang="ko-KR" sz="700" dirty="0">
                <a:solidFill>
                  <a:schemeClr val="tx1"/>
                </a:solidFill>
              </a:rPr>
              <a:t>Color: FFFFFF</a:t>
            </a:r>
          </a:p>
          <a:p>
            <a:pPr marL="342900" indent="-342900">
              <a:buAutoNum type="arabicPeriod"/>
            </a:pPr>
            <a:r>
              <a:rPr lang="en-US" altLang="ko-KR" sz="700" dirty="0">
                <a:solidFill>
                  <a:schemeClr val="tx1"/>
                </a:solidFill>
              </a:rPr>
              <a:t>Outline: FFF600, alpha 80, x0.2 y-0.2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2E78B433-7661-C0B3-EBB6-BA6E9DE15C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559" y="2586435"/>
            <a:ext cx="528000" cy="144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57F0E970-A00E-97EC-44D0-A1E239B4E4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154" y="3499654"/>
            <a:ext cx="395999" cy="144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E9C0CDF-981A-EC1A-9CC3-98AD4B69B1D3}"/>
              </a:ext>
            </a:extLst>
          </p:cNvPr>
          <p:cNvSpPr txBox="1"/>
          <p:nvPr/>
        </p:nvSpPr>
        <p:spPr>
          <a:xfrm>
            <a:off x="329964" y="3646615"/>
            <a:ext cx="2020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결정 </a:t>
            </a:r>
            <a:r>
              <a:rPr lang="en-US" altLang="ko-KR" sz="700" dirty="0">
                <a:solidFill>
                  <a:schemeClr val="tx1"/>
                </a:solidFill>
              </a:rPr>
              <a:t>TEXT</a:t>
            </a:r>
          </a:p>
          <a:p>
            <a:pPr marL="342900" indent="-342900">
              <a:buAutoNum type="arabicPeriod"/>
            </a:pPr>
            <a:r>
              <a:rPr lang="en-US" altLang="ko-KR" sz="700" dirty="0">
                <a:solidFill>
                  <a:schemeClr val="tx1"/>
                </a:solidFill>
              </a:rPr>
              <a:t>Font: </a:t>
            </a:r>
            <a:r>
              <a:rPr lang="en-US" altLang="ko-KR" sz="700" dirty="0" err="1">
                <a:solidFill>
                  <a:schemeClr val="tx1"/>
                </a:solidFill>
              </a:rPr>
              <a:t>PF_Stardust</a:t>
            </a:r>
            <a:r>
              <a:rPr lang="en-US" altLang="ko-KR" sz="700" dirty="0">
                <a:solidFill>
                  <a:schemeClr val="tx1"/>
                </a:solidFill>
              </a:rPr>
              <a:t> (</a:t>
            </a:r>
            <a:r>
              <a:rPr lang="ko-KR" altLang="en-US" sz="700" dirty="0">
                <a:solidFill>
                  <a:schemeClr val="tx1"/>
                </a:solidFill>
              </a:rPr>
              <a:t>고정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en-US" altLang="ko-KR" sz="700" dirty="0">
                <a:solidFill>
                  <a:schemeClr val="tx1"/>
                </a:solidFill>
              </a:rPr>
              <a:t>Color: 00F3FF</a:t>
            </a:r>
          </a:p>
          <a:p>
            <a:pPr marL="342900" indent="-342900">
              <a:buAutoNum type="arabicPeriod"/>
            </a:pPr>
            <a:r>
              <a:rPr lang="en-US" altLang="ko-KR" sz="700" dirty="0">
                <a:solidFill>
                  <a:schemeClr val="tx1"/>
                </a:solidFill>
              </a:rPr>
              <a:t>Outline: FFF600, alpha 80, x0.2 y-0.2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454177C-FF8F-4D12-6D5A-654FE2DA1747}"/>
              </a:ext>
            </a:extLst>
          </p:cNvPr>
          <p:cNvCxnSpPr/>
          <p:nvPr/>
        </p:nvCxnSpPr>
        <p:spPr>
          <a:xfrm>
            <a:off x="2601075" y="2917012"/>
            <a:ext cx="112789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360A9AFD-0AF6-4F1C-59E4-9B8C993C7D28}"/>
              </a:ext>
            </a:extLst>
          </p:cNvPr>
          <p:cNvCxnSpPr/>
          <p:nvPr/>
        </p:nvCxnSpPr>
        <p:spPr>
          <a:xfrm>
            <a:off x="2713864" y="2917012"/>
            <a:ext cx="0" cy="115326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D31C08D3-279D-6277-5077-27983F2637B4}"/>
              </a:ext>
            </a:extLst>
          </p:cNvPr>
          <p:cNvCxnSpPr/>
          <p:nvPr/>
        </p:nvCxnSpPr>
        <p:spPr>
          <a:xfrm>
            <a:off x="2601075" y="4066291"/>
            <a:ext cx="112789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9A18FE1-CD0D-4264-568A-098BAC2B1E52}"/>
              </a:ext>
            </a:extLst>
          </p:cNvPr>
          <p:cNvCxnSpPr/>
          <p:nvPr/>
        </p:nvCxnSpPr>
        <p:spPr>
          <a:xfrm>
            <a:off x="2713864" y="3493645"/>
            <a:ext cx="112789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6BA76A6-3F19-C825-C03E-A5A1D4E9F3E1}"/>
              </a:ext>
            </a:extLst>
          </p:cNvPr>
          <p:cNvSpPr txBox="1"/>
          <p:nvPr/>
        </p:nvSpPr>
        <p:spPr>
          <a:xfrm>
            <a:off x="2826653" y="3391776"/>
            <a:ext cx="146065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Amount </a:t>
            </a:r>
            <a:r>
              <a:rPr lang="ko-KR" altLang="en-US" sz="700" dirty="0">
                <a:solidFill>
                  <a:schemeClr val="tx1"/>
                </a:solidFill>
              </a:rPr>
              <a:t>변화 시 </a:t>
            </a:r>
            <a:r>
              <a:rPr lang="en-US" altLang="ko-KR" sz="700" dirty="0">
                <a:solidFill>
                  <a:schemeClr val="tx1"/>
                </a:solidFill>
              </a:rPr>
              <a:t>Lerp</a:t>
            </a:r>
            <a:r>
              <a:rPr lang="ko-KR" altLang="en-US" sz="700" dirty="0">
                <a:solidFill>
                  <a:schemeClr val="tx1"/>
                </a:solidFill>
              </a:rPr>
              <a:t>로</a:t>
            </a:r>
            <a:r>
              <a:rPr lang="en-US" altLang="ko-KR" sz="700" dirty="0">
                <a:solidFill>
                  <a:schemeClr val="tx1"/>
                </a:solidFill>
              </a:rPr>
              <a:t> text</a:t>
            </a:r>
            <a:r>
              <a:rPr lang="ko-KR" altLang="en-US" sz="700" dirty="0">
                <a:solidFill>
                  <a:schemeClr val="tx1"/>
                </a:solidFill>
              </a:rPr>
              <a:t>갱신</a:t>
            </a:r>
            <a:endParaRPr lang="en-US" altLang="ko-KR" sz="700" dirty="0">
              <a:solidFill>
                <a:schemeClr val="tx1"/>
              </a:solidFill>
            </a:endParaRPr>
          </a:p>
          <a:p>
            <a:endParaRPr lang="en-US" altLang="ko-KR" sz="700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증가 시 초록색</a:t>
            </a:r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en-US" altLang="ko-KR" sz="700" dirty="0">
                <a:solidFill>
                  <a:srgbClr val="00FF00"/>
                </a:solidFill>
              </a:rPr>
              <a:t>00FF00 )</a:t>
            </a:r>
            <a:r>
              <a:rPr lang="ko-KR" altLang="en-US" sz="700" dirty="0">
                <a:solidFill>
                  <a:schemeClr val="tx1"/>
                </a:solidFill>
              </a:rPr>
              <a:t>으로</a:t>
            </a:r>
            <a:endParaRPr lang="en-US" altLang="ko-KR" sz="700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감소 시 빨간색</a:t>
            </a:r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en-US" altLang="ko-KR" sz="700" dirty="0">
                <a:solidFill>
                  <a:srgbClr val="FF0000"/>
                </a:solidFill>
              </a:rPr>
              <a:t>FF0000</a:t>
            </a:r>
            <a:r>
              <a:rPr lang="en-US" altLang="ko-KR" sz="7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ko-KR" altLang="en-US" sz="700" dirty="0">
                <a:solidFill>
                  <a:schemeClr val="tx1"/>
                </a:solidFill>
              </a:rPr>
              <a:t>으로 </a:t>
            </a:r>
            <a:endParaRPr lang="en-US" altLang="ko-KR" sz="700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잠깐 빛남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3FF25698-956B-C706-7F12-562B49F156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5620" y="2976197"/>
            <a:ext cx="819150" cy="32385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ABF5BFC-922C-A9A0-AD2D-E6E26B48E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770" y="786999"/>
            <a:ext cx="252000" cy="252000"/>
          </a:xfrm>
          <a:prstGeom prst="rect">
            <a:avLst/>
          </a:prstGeom>
        </p:spPr>
      </p:pic>
      <p:sp>
        <p:nvSpPr>
          <p:cNvPr id="64" name="Google Shape;90;p17">
            <a:extLst>
              <a:ext uri="{FF2B5EF4-FFF2-40B4-BE49-F238E27FC236}">
                <a16:creationId xmlns:a16="http://schemas.microsoft.com/office/drawing/2014/main" id="{784C37B4-CDF9-3740-2B32-FBA9A1A842E9}"/>
              </a:ext>
            </a:extLst>
          </p:cNvPr>
          <p:cNvSpPr txBox="1"/>
          <p:nvPr/>
        </p:nvSpPr>
        <p:spPr>
          <a:xfrm>
            <a:off x="3800810" y="1115610"/>
            <a:ext cx="900058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환경설정 버튼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F6A525-2897-42A7-0F39-FA5043E1995C}"/>
              </a:ext>
            </a:extLst>
          </p:cNvPr>
          <p:cNvSpPr txBox="1"/>
          <p:nvPr/>
        </p:nvSpPr>
        <p:spPr>
          <a:xfrm>
            <a:off x="3800810" y="1274946"/>
            <a:ext cx="1353256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클릭 시 환경설정</a:t>
            </a:r>
            <a:r>
              <a:rPr lang="en-US" altLang="ko-KR" sz="700" dirty="0">
                <a:solidFill>
                  <a:schemeClr val="tx1"/>
                </a:solidFill>
              </a:rPr>
              <a:t> Popup </a:t>
            </a:r>
            <a:r>
              <a:rPr lang="ko-KR" altLang="en-US" sz="700" dirty="0">
                <a:solidFill>
                  <a:schemeClr val="tx1"/>
                </a:solidFill>
              </a:rPr>
              <a:t>호출</a:t>
            </a:r>
            <a:endParaRPr lang="en-US" altLang="ko-KR" sz="700" dirty="0">
              <a:solidFill>
                <a:schemeClr val="tx1"/>
              </a:solidFill>
            </a:endParaRPr>
          </a:p>
          <a:p>
            <a:endParaRPr lang="en-US" altLang="ko-KR" sz="700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클릭 시 해당 버튼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Anim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정보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Dotween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Scale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Duration: 0.07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Delay: 0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Ease: </a:t>
            </a:r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OutQuad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Loops: 2</a:t>
            </a:r>
          </a:p>
          <a:p>
            <a:pPr marL="171450" lvl="2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Loop Type: Yoyo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To: 0.75 (Uniform Scale)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3C20216-F3B0-DA84-EAF2-E9DC65EF78A6}"/>
              </a:ext>
            </a:extLst>
          </p:cNvPr>
          <p:cNvCxnSpPr/>
          <p:nvPr/>
        </p:nvCxnSpPr>
        <p:spPr>
          <a:xfrm>
            <a:off x="2894340" y="879633"/>
            <a:ext cx="83883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A708807-B0F2-A5B6-7321-D3069824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;p17">
            <a:extLst>
              <a:ext uri="{FF2B5EF4-FFF2-40B4-BE49-F238E27FC236}">
                <a16:creationId xmlns:a16="http://schemas.microsoft.com/office/drawing/2014/main" id="{D3238BCA-395F-D51C-F62B-49B2636E4932}"/>
              </a:ext>
            </a:extLst>
          </p:cNvPr>
          <p:cNvSpPr/>
          <p:nvPr/>
        </p:nvSpPr>
        <p:spPr>
          <a:xfrm rot="10800000">
            <a:off x="0" y="-100"/>
            <a:ext cx="9144000" cy="3021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73737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5;p17">
            <a:extLst>
              <a:ext uri="{FF2B5EF4-FFF2-40B4-BE49-F238E27FC236}">
                <a16:creationId xmlns:a16="http://schemas.microsoft.com/office/drawing/2014/main" id="{F3D91628-FD3D-2453-ADBC-E214A5B5B34F}"/>
              </a:ext>
            </a:extLst>
          </p:cNvPr>
          <p:cNvSpPr txBox="1"/>
          <p:nvPr/>
        </p:nvSpPr>
        <p:spPr>
          <a:xfrm>
            <a:off x="10821" y="8325"/>
            <a:ext cx="3044799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ko-KR" sz="1500" dirty="0">
                <a:solidFill>
                  <a:srgbClr val="FFFFFF"/>
                </a:solidFill>
              </a:rPr>
              <a:t>Popup </a:t>
            </a:r>
            <a:r>
              <a:rPr lang="ko-KR" altLang="en-US" sz="1500" dirty="0">
                <a:solidFill>
                  <a:srgbClr val="FFFFFF"/>
                </a:solidFill>
              </a:rPr>
              <a:t>시 선행 작업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5" name="Google Shape;325;p30">
            <a:extLst>
              <a:ext uri="{FF2B5EF4-FFF2-40B4-BE49-F238E27FC236}">
                <a16:creationId xmlns:a16="http://schemas.microsoft.com/office/drawing/2014/main" id="{A9D9CC3A-E3EF-3661-C252-3E79F760BA3D}"/>
              </a:ext>
            </a:extLst>
          </p:cNvPr>
          <p:cNvSpPr txBox="1"/>
          <p:nvPr/>
        </p:nvSpPr>
        <p:spPr>
          <a:xfrm>
            <a:off x="1717" y="4557061"/>
            <a:ext cx="9144000" cy="5864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ko-KR" altLang="en-US" sz="1200" dirty="0">
                <a:solidFill>
                  <a:srgbClr val="FF9900"/>
                </a:solidFill>
              </a:rPr>
              <a:t>기획 의도</a:t>
            </a:r>
            <a:r>
              <a:rPr lang="en-US" altLang="ko-KR" sz="1200" dirty="0">
                <a:solidFill>
                  <a:srgbClr val="FF9900"/>
                </a:solidFill>
              </a:rPr>
              <a:t>: </a:t>
            </a:r>
            <a:r>
              <a:rPr lang="ko-KR" altLang="en-US" sz="1200" dirty="0">
                <a:solidFill>
                  <a:srgbClr val="00FF00"/>
                </a:solidFill>
              </a:rPr>
              <a:t>해당 </a:t>
            </a:r>
            <a:r>
              <a:rPr lang="en-US" altLang="ko-KR" sz="1200" dirty="0">
                <a:solidFill>
                  <a:srgbClr val="00FF00"/>
                </a:solidFill>
              </a:rPr>
              <a:t>Popup</a:t>
            </a:r>
            <a:r>
              <a:rPr lang="ko-KR" altLang="en-US" sz="1200" dirty="0">
                <a:solidFill>
                  <a:srgbClr val="00FF00"/>
                </a:solidFill>
              </a:rPr>
              <a:t>에 플레이어가 더 집중할 수 있도록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BDC788-95B2-2B60-17DC-27F241A12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7" y="816043"/>
            <a:ext cx="1113600" cy="2764800"/>
          </a:xfrm>
          <a:prstGeom prst="rect">
            <a:avLst/>
          </a:prstGeom>
        </p:spPr>
      </p:pic>
      <p:sp>
        <p:nvSpPr>
          <p:cNvPr id="10" name="Google Shape;90;p17">
            <a:extLst>
              <a:ext uri="{FF2B5EF4-FFF2-40B4-BE49-F238E27FC236}">
                <a16:creationId xmlns:a16="http://schemas.microsoft.com/office/drawing/2014/main" id="{C17C1EAB-6613-0F49-3117-89389C3DE393}"/>
              </a:ext>
            </a:extLst>
          </p:cNvPr>
          <p:cNvSpPr txBox="1"/>
          <p:nvPr/>
        </p:nvSpPr>
        <p:spPr>
          <a:xfrm>
            <a:off x="653469" y="3688610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예시화면</a:t>
            </a:r>
            <a:endParaRPr sz="7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D7DC3A2-3194-4435-9E70-C13EED380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285" y="830119"/>
            <a:ext cx="1129025" cy="2763952"/>
          </a:xfrm>
          <a:prstGeom prst="rect">
            <a:avLst/>
          </a:prstGeom>
          <a:ln w="9525">
            <a:solidFill>
              <a:schemeClr val="bg1">
                <a:lumMod val="50000"/>
                <a:lumOff val="50000"/>
              </a:schemeClr>
            </a:solidFill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03D6C3-3141-0B0C-68E6-1E9F6125ED6E}"/>
              </a:ext>
            </a:extLst>
          </p:cNvPr>
          <p:cNvSpPr/>
          <p:nvPr/>
        </p:nvSpPr>
        <p:spPr>
          <a:xfrm>
            <a:off x="2384734" y="1071095"/>
            <a:ext cx="1130400" cy="2764800"/>
          </a:xfrm>
          <a:prstGeom prst="rect">
            <a:avLst/>
          </a:prstGeom>
          <a:solidFill>
            <a:srgbClr val="000000">
              <a:alpha val="74902"/>
            </a:srgbClr>
          </a:solidFill>
          <a:ln w="9525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1832545-E583-315F-6FC4-62E66EA454A7}"/>
              </a:ext>
            </a:extLst>
          </p:cNvPr>
          <p:cNvGrpSpPr/>
          <p:nvPr/>
        </p:nvGrpSpPr>
        <p:grpSpPr>
          <a:xfrm>
            <a:off x="2626558" y="1312919"/>
            <a:ext cx="1130400" cy="2764800"/>
            <a:chOff x="4752983" y="944927"/>
            <a:chExt cx="1130400" cy="2764800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C0F339A8-670C-CB6C-7A45-3B6DD2045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51319" y="1964700"/>
              <a:ext cx="933727" cy="725253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13DE2B5-BAD9-E055-E231-9F6EC8F679CE}"/>
                </a:ext>
              </a:extLst>
            </p:cNvPr>
            <p:cNvSpPr/>
            <p:nvPr/>
          </p:nvSpPr>
          <p:spPr>
            <a:xfrm>
              <a:off x="4752983" y="944927"/>
              <a:ext cx="1130400" cy="2764800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8" name="Google Shape;76;p17">
            <a:extLst>
              <a:ext uri="{FF2B5EF4-FFF2-40B4-BE49-F238E27FC236}">
                <a16:creationId xmlns:a16="http://schemas.microsoft.com/office/drawing/2014/main" id="{001C26A3-FF24-B7D0-6A47-51ACF999156D}"/>
              </a:ext>
            </a:extLst>
          </p:cNvPr>
          <p:cNvSpPr txBox="1"/>
          <p:nvPr/>
        </p:nvSpPr>
        <p:spPr>
          <a:xfrm>
            <a:off x="9274" y="325650"/>
            <a:ext cx="5234239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Char char="-"/>
            </a:pPr>
            <a:r>
              <a:rPr lang="ko-KR" altLang="en-US" sz="900" b="1" dirty="0">
                <a:solidFill>
                  <a:srgbClr val="999999"/>
                </a:solidFill>
              </a:rPr>
              <a:t>모든 </a:t>
            </a:r>
            <a:r>
              <a:rPr lang="en-US" altLang="ko-KR" sz="900" b="1" dirty="0">
                <a:solidFill>
                  <a:srgbClr val="999999"/>
                </a:solidFill>
              </a:rPr>
              <a:t>Popup</a:t>
            </a:r>
            <a:r>
              <a:rPr lang="ko-KR" altLang="en-US" sz="900" b="1" dirty="0">
                <a:solidFill>
                  <a:srgbClr val="999999"/>
                </a:solidFill>
              </a:rPr>
              <a:t>은 해당 스크린 전체 크기의 검은색 </a:t>
            </a:r>
            <a:r>
              <a:rPr lang="en-US" altLang="ko-KR" sz="900" b="1" dirty="0">
                <a:solidFill>
                  <a:srgbClr val="999999"/>
                </a:solidFill>
              </a:rPr>
              <a:t>layer(</a:t>
            </a:r>
            <a:r>
              <a:rPr lang="en-US" altLang="ko-KR" sz="900" b="1" dirty="0" err="1">
                <a:solidFill>
                  <a:srgbClr val="999999"/>
                </a:solidFill>
              </a:rPr>
              <a:t>BlackBG_Layer</a:t>
            </a:r>
            <a:r>
              <a:rPr lang="en-US" altLang="ko-KR" sz="900" b="1" dirty="0">
                <a:solidFill>
                  <a:srgbClr val="999999"/>
                </a:solidFill>
              </a:rPr>
              <a:t>)</a:t>
            </a:r>
            <a:r>
              <a:rPr lang="ko-KR" altLang="en-US" sz="900" b="1" dirty="0">
                <a:solidFill>
                  <a:srgbClr val="999999"/>
                </a:solidFill>
              </a:rPr>
              <a:t>를 지니고 있다</a:t>
            </a:r>
            <a:r>
              <a:rPr lang="en-US" altLang="ko-KR" sz="900" b="1" dirty="0">
                <a:solidFill>
                  <a:srgbClr val="999999"/>
                </a:solidFill>
              </a:rPr>
              <a:t>.</a:t>
            </a:r>
            <a:r>
              <a:rPr lang="ko-KR" altLang="en-US" sz="900" b="1" dirty="0">
                <a:solidFill>
                  <a:srgbClr val="999999"/>
                </a:solidFill>
              </a:rPr>
              <a:t> </a:t>
            </a:r>
            <a:endParaRPr sz="1100" b="1" dirty="0">
              <a:solidFill>
                <a:srgbClr val="999999"/>
              </a:solidFill>
            </a:endParaRPr>
          </a:p>
        </p:txBody>
      </p:sp>
      <p:sp>
        <p:nvSpPr>
          <p:cNvPr id="40" name="Google Shape;1547;p96">
            <a:extLst>
              <a:ext uri="{FF2B5EF4-FFF2-40B4-BE49-F238E27FC236}">
                <a16:creationId xmlns:a16="http://schemas.microsoft.com/office/drawing/2014/main" id="{B6E7CF5F-0771-F56C-06F3-F6C113F04B57}"/>
              </a:ext>
            </a:extLst>
          </p:cNvPr>
          <p:cNvSpPr txBox="1"/>
          <p:nvPr/>
        </p:nvSpPr>
        <p:spPr>
          <a:xfrm>
            <a:off x="3264477" y="775084"/>
            <a:ext cx="7860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>
                <a:solidFill>
                  <a:srgbClr val="00FF00"/>
                </a:solidFill>
              </a:rPr>
              <a:t>Main Screen</a:t>
            </a:r>
            <a:endParaRPr sz="600" dirty="0">
              <a:solidFill>
                <a:srgbClr val="00FF00"/>
              </a:solidFill>
            </a:endParaRPr>
          </a:p>
        </p:txBody>
      </p:sp>
      <p:sp>
        <p:nvSpPr>
          <p:cNvPr id="42" name="Google Shape;1547;p96">
            <a:extLst>
              <a:ext uri="{FF2B5EF4-FFF2-40B4-BE49-F238E27FC236}">
                <a16:creationId xmlns:a16="http://schemas.microsoft.com/office/drawing/2014/main" id="{C3D1CF78-6F98-168C-5F90-415CE5D7C8CD}"/>
              </a:ext>
            </a:extLst>
          </p:cNvPr>
          <p:cNvSpPr txBox="1"/>
          <p:nvPr/>
        </p:nvSpPr>
        <p:spPr>
          <a:xfrm>
            <a:off x="3498326" y="1015328"/>
            <a:ext cx="7860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 err="1">
                <a:solidFill>
                  <a:srgbClr val="00FF00"/>
                </a:solidFill>
              </a:rPr>
              <a:t>BlackBG_Layer</a:t>
            </a:r>
            <a:endParaRPr sz="600" dirty="0">
              <a:solidFill>
                <a:srgbClr val="00FF00"/>
              </a:solidFill>
            </a:endParaRPr>
          </a:p>
        </p:txBody>
      </p:sp>
      <p:sp>
        <p:nvSpPr>
          <p:cNvPr id="44" name="Google Shape;1547;p96">
            <a:extLst>
              <a:ext uri="{FF2B5EF4-FFF2-40B4-BE49-F238E27FC236}">
                <a16:creationId xmlns:a16="http://schemas.microsoft.com/office/drawing/2014/main" id="{10C57E4C-8AB5-5EAC-5DDB-6E28153C3380}"/>
              </a:ext>
            </a:extLst>
          </p:cNvPr>
          <p:cNvSpPr txBox="1"/>
          <p:nvPr/>
        </p:nvSpPr>
        <p:spPr>
          <a:xfrm>
            <a:off x="3748407" y="1265288"/>
            <a:ext cx="7860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 err="1">
                <a:solidFill>
                  <a:srgbClr val="00FF00"/>
                </a:solidFill>
              </a:rPr>
              <a:t>Popup_Layer</a:t>
            </a:r>
            <a:endParaRPr sz="600" dirty="0">
              <a:solidFill>
                <a:srgbClr val="00FF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EBE196-E734-E3D3-FAF7-D80AA3AB03D6}"/>
              </a:ext>
            </a:extLst>
          </p:cNvPr>
          <p:cNvSpPr txBox="1"/>
          <p:nvPr/>
        </p:nvSpPr>
        <p:spPr>
          <a:xfrm>
            <a:off x="4753697" y="1015328"/>
            <a:ext cx="126669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FFFF00"/>
                </a:solidFill>
              </a:rPr>
              <a:t>BlackBG_Layer</a:t>
            </a:r>
            <a:endParaRPr lang="en-US" altLang="ko-KR" sz="700" dirty="0">
              <a:solidFill>
                <a:srgbClr val="FFFF00"/>
              </a:solidFill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Sprite: None</a:t>
            </a: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Color: 000000 (alpha 220)</a:t>
            </a:r>
          </a:p>
          <a:p>
            <a:endParaRPr lang="en-US" altLang="ko-KR" sz="700" dirty="0">
              <a:solidFill>
                <a:srgbClr val="FFFF00"/>
              </a:solidFill>
            </a:endParaRPr>
          </a:p>
          <a:p>
            <a:r>
              <a:rPr lang="en-US" altLang="ko-KR" sz="700" dirty="0">
                <a:solidFill>
                  <a:srgbClr val="FFFF00"/>
                </a:solidFill>
              </a:rPr>
              <a:t>Anim </a:t>
            </a:r>
            <a:r>
              <a:rPr lang="ko-KR" altLang="en-US" sz="700" dirty="0">
                <a:solidFill>
                  <a:srgbClr val="FFFF00"/>
                </a:solidFill>
              </a:rPr>
              <a:t>정보</a:t>
            </a:r>
            <a:r>
              <a:rPr lang="en-US" altLang="ko-KR" sz="700" dirty="0">
                <a:solidFill>
                  <a:srgbClr val="FFFF00"/>
                </a:solidFill>
              </a:rPr>
              <a:t>:</a:t>
            </a: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Dotween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Fade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Duration: 0.3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Delay: 0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Ease: </a:t>
            </a:r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OutQuad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Loops: 1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From: 0</a:t>
            </a:r>
          </a:p>
          <a:p>
            <a:pPr marL="171450" indent="-171450">
              <a:buFontTx/>
              <a:buChar char="-"/>
            </a:pP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Manager 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On Enable -&gt; Restart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On Disable -&gt; Rewind</a:t>
            </a:r>
            <a:endParaRPr lang="en-US" altLang="ko-KR" sz="70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2B8DEBD-950B-AE45-430D-95178D4D0824}"/>
              </a:ext>
            </a:extLst>
          </p:cNvPr>
          <p:cNvCxnSpPr>
            <a:stCxn id="42" idx="3"/>
          </p:cNvCxnSpPr>
          <p:nvPr/>
        </p:nvCxnSpPr>
        <p:spPr>
          <a:xfrm>
            <a:off x="4284326" y="1099628"/>
            <a:ext cx="469371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Google Shape;76;p17">
            <a:extLst>
              <a:ext uri="{FF2B5EF4-FFF2-40B4-BE49-F238E27FC236}">
                <a16:creationId xmlns:a16="http://schemas.microsoft.com/office/drawing/2014/main" id="{B5CA3A51-6606-A50F-0184-D278BA6D73EF}"/>
              </a:ext>
            </a:extLst>
          </p:cNvPr>
          <p:cNvSpPr txBox="1"/>
          <p:nvPr/>
        </p:nvSpPr>
        <p:spPr>
          <a:xfrm>
            <a:off x="9274" y="493212"/>
            <a:ext cx="4962775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Char char="-"/>
            </a:pPr>
            <a:r>
              <a:rPr lang="en-US" altLang="ko-KR" sz="900" b="1" dirty="0" err="1">
                <a:solidFill>
                  <a:srgbClr val="999999"/>
                </a:solidFill>
              </a:rPr>
              <a:t>BlackBG_Layer</a:t>
            </a:r>
            <a:r>
              <a:rPr lang="ko-KR" altLang="en-US" sz="900" b="1" dirty="0">
                <a:solidFill>
                  <a:srgbClr val="999999"/>
                </a:solidFill>
              </a:rPr>
              <a:t>를 클릭 시 해당 </a:t>
            </a:r>
            <a:r>
              <a:rPr lang="en-US" altLang="ko-KR" sz="900" b="1" dirty="0">
                <a:solidFill>
                  <a:srgbClr val="999999"/>
                </a:solidFill>
              </a:rPr>
              <a:t>Popup</a:t>
            </a:r>
            <a:r>
              <a:rPr lang="ko-KR" altLang="en-US" sz="900" b="1" dirty="0">
                <a:solidFill>
                  <a:srgbClr val="999999"/>
                </a:solidFill>
              </a:rPr>
              <a:t>은 </a:t>
            </a:r>
            <a:r>
              <a:rPr lang="en-US" altLang="ko-KR" sz="900" b="1" dirty="0">
                <a:solidFill>
                  <a:srgbClr val="999999"/>
                </a:solidFill>
              </a:rPr>
              <a:t>Disable </a:t>
            </a:r>
            <a:r>
              <a:rPr lang="en-US" altLang="ko-KR" sz="900" b="1" dirty="0" err="1">
                <a:solidFill>
                  <a:srgbClr val="999999"/>
                </a:solidFill>
              </a:rPr>
              <a:t>anim</a:t>
            </a:r>
            <a:r>
              <a:rPr lang="en-US" altLang="ko-KR" sz="900" b="1" dirty="0">
                <a:solidFill>
                  <a:srgbClr val="999999"/>
                </a:solidFill>
              </a:rPr>
              <a:t> </a:t>
            </a:r>
            <a:r>
              <a:rPr lang="ko-KR" altLang="en-US" sz="900" b="1" dirty="0">
                <a:solidFill>
                  <a:srgbClr val="999999"/>
                </a:solidFill>
              </a:rPr>
              <a:t>재생 후 꺼진다</a:t>
            </a:r>
            <a:r>
              <a:rPr lang="en-US" altLang="ko-KR" sz="900" b="1" dirty="0">
                <a:solidFill>
                  <a:srgbClr val="999999"/>
                </a:solidFill>
              </a:rPr>
              <a:t>.</a:t>
            </a:r>
            <a:r>
              <a:rPr lang="ko-KR" altLang="en-US" sz="900" b="1" dirty="0">
                <a:solidFill>
                  <a:srgbClr val="999999"/>
                </a:solidFill>
              </a:rPr>
              <a:t> </a:t>
            </a:r>
            <a:endParaRPr sz="1100" b="1" dirty="0">
              <a:solidFill>
                <a:srgbClr val="9999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97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10C8FA8-946E-80DB-CA37-A1576346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;p17">
            <a:extLst>
              <a:ext uri="{FF2B5EF4-FFF2-40B4-BE49-F238E27FC236}">
                <a16:creationId xmlns:a16="http://schemas.microsoft.com/office/drawing/2014/main" id="{DC2C77E3-1362-F72D-875E-917A889B92F8}"/>
              </a:ext>
            </a:extLst>
          </p:cNvPr>
          <p:cNvSpPr/>
          <p:nvPr/>
        </p:nvSpPr>
        <p:spPr>
          <a:xfrm rot="10800000">
            <a:off x="0" y="-100"/>
            <a:ext cx="9144000" cy="3021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73737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5;p17">
            <a:extLst>
              <a:ext uri="{FF2B5EF4-FFF2-40B4-BE49-F238E27FC236}">
                <a16:creationId xmlns:a16="http://schemas.microsoft.com/office/drawing/2014/main" id="{40F852EF-E414-25AD-2187-CB4860AE05ED}"/>
              </a:ext>
            </a:extLst>
          </p:cNvPr>
          <p:cNvSpPr txBox="1"/>
          <p:nvPr/>
        </p:nvSpPr>
        <p:spPr>
          <a:xfrm>
            <a:off x="10821" y="8325"/>
            <a:ext cx="3044799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1500" dirty="0">
                <a:solidFill>
                  <a:srgbClr val="FFFFFF"/>
                </a:solidFill>
              </a:rPr>
              <a:t>환경설정 </a:t>
            </a:r>
            <a:r>
              <a:rPr lang="en-US" altLang="ko-KR" sz="1500" dirty="0">
                <a:solidFill>
                  <a:srgbClr val="FFFFFF"/>
                </a:solidFill>
              </a:rPr>
              <a:t>Popup</a:t>
            </a:r>
          </a:p>
        </p:txBody>
      </p:sp>
      <p:sp>
        <p:nvSpPr>
          <p:cNvPr id="5" name="Google Shape;325;p30">
            <a:extLst>
              <a:ext uri="{FF2B5EF4-FFF2-40B4-BE49-F238E27FC236}">
                <a16:creationId xmlns:a16="http://schemas.microsoft.com/office/drawing/2014/main" id="{316545BB-3ACF-B6C6-4BAF-71A0FA8ECA65}"/>
              </a:ext>
            </a:extLst>
          </p:cNvPr>
          <p:cNvSpPr txBox="1"/>
          <p:nvPr/>
        </p:nvSpPr>
        <p:spPr>
          <a:xfrm>
            <a:off x="10821" y="4605837"/>
            <a:ext cx="9144000" cy="5864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dirty="0">
              <a:solidFill>
                <a:srgbClr val="00FF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3982B7-EBAE-655A-6AD1-3A6D8EC8C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87" y="612029"/>
            <a:ext cx="1500631" cy="3725703"/>
          </a:xfrm>
          <a:prstGeom prst="rect">
            <a:avLst/>
          </a:prstGeom>
        </p:spPr>
      </p:pic>
      <p:sp>
        <p:nvSpPr>
          <p:cNvPr id="7" name="Google Shape;76;p17">
            <a:extLst>
              <a:ext uri="{FF2B5EF4-FFF2-40B4-BE49-F238E27FC236}">
                <a16:creationId xmlns:a16="http://schemas.microsoft.com/office/drawing/2014/main" id="{9CB54A82-CE89-2A09-D86D-44AC2183210D}"/>
              </a:ext>
            </a:extLst>
          </p:cNvPr>
          <p:cNvSpPr txBox="1"/>
          <p:nvPr/>
        </p:nvSpPr>
        <p:spPr>
          <a:xfrm>
            <a:off x="9275" y="325650"/>
            <a:ext cx="34887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Char char="-"/>
            </a:pPr>
            <a:r>
              <a:rPr lang="ko-KR" altLang="en-US" sz="900" b="1" dirty="0">
                <a:solidFill>
                  <a:srgbClr val="999999"/>
                </a:solidFill>
              </a:rPr>
              <a:t>기본적인 게임 설정을 할 수 있는 </a:t>
            </a:r>
            <a:r>
              <a:rPr lang="en-US" altLang="ko-KR" sz="900" b="1" dirty="0">
                <a:solidFill>
                  <a:srgbClr val="999999"/>
                </a:solidFill>
              </a:rPr>
              <a:t>Popup </a:t>
            </a:r>
            <a:r>
              <a:rPr lang="ko-KR" altLang="en-US" sz="900" b="1" dirty="0">
                <a:solidFill>
                  <a:srgbClr val="999999"/>
                </a:solidFill>
              </a:rPr>
              <a:t>창</a:t>
            </a:r>
            <a:endParaRPr sz="1100" b="1" dirty="0">
              <a:solidFill>
                <a:srgbClr val="999999"/>
              </a:solidFill>
            </a:endParaRPr>
          </a:p>
        </p:txBody>
      </p:sp>
      <p:sp>
        <p:nvSpPr>
          <p:cNvPr id="9" name="Google Shape;90;p17">
            <a:extLst>
              <a:ext uri="{FF2B5EF4-FFF2-40B4-BE49-F238E27FC236}">
                <a16:creationId xmlns:a16="http://schemas.microsoft.com/office/drawing/2014/main" id="{8A588FEB-F813-B3BA-D36C-2B35827A4C65}"/>
              </a:ext>
            </a:extLst>
          </p:cNvPr>
          <p:cNvSpPr txBox="1"/>
          <p:nvPr/>
        </p:nvSpPr>
        <p:spPr>
          <a:xfrm>
            <a:off x="473007" y="4383438"/>
            <a:ext cx="1003989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&amp; Close Anim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F9DA9-243E-E3D8-2673-03744BA737A6}"/>
              </a:ext>
            </a:extLst>
          </p:cNvPr>
          <p:cNvSpPr txBox="1"/>
          <p:nvPr/>
        </p:nvSpPr>
        <p:spPr>
          <a:xfrm>
            <a:off x="1781968" y="2998443"/>
            <a:ext cx="15363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Popup Anim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정보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</a:p>
          <a:p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[</a:t>
            </a:r>
            <a:r>
              <a:rPr lang="en-US" altLang="ko-KR" sz="700" u="sng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OnActive</a:t>
            </a:r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]</a:t>
            </a: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Dotween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Move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Duration: 0.5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Delay: 0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Ease: </a:t>
            </a:r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OutBack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Loops: 1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From: x 0, y 350, z 0</a:t>
            </a:r>
          </a:p>
          <a:p>
            <a:pPr marL="171450" indent="-171450">
              <a:buFontTx/>
              <a:buChar char="-"/>
            </a:pP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[</a:t>
            </a:r>
            <a:r>
              <a:rPr lang="en-US" altLang="ko-KR" sz="700" u="sng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OnDisable</a:t>
            </a:r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]</a:t>
            </a: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Rewind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Google Shape;931;p69">
            <a:extLst>
              <a:ext uri="{FF2B5EF4-FFF2-40B4-BE49-F238E27FC236}">
                <a16:creationId xmlns:a16="http://schemas.microsoft.com/office/drawing/2014/main" id="{277EF892-ECBE-13EF-2EEA-3D092431F5D9}"/>
              </a:ext>
            </a:extLst>
          </p:cNvPr>
          <p:cNvSpPr txBox="1"/>
          <p:nvPr/>
        </p:nvSpPr>
        <p:spPr>
          <a:xfrm>
            <a:off x="1805356" y="580680"/>
            <a:ext cx="1425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>
                <a:solidFill>
                  <a:srgbClr val="FFFF00"/>
                </a:solidFill>
              </a:rPr>
              <a:t>Frame_square_256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131B1-49B7-C8CB-C6C9-70E87C98C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478" y="814073"/>
            <a:ext cx="737178" cy="737178"/>
          </a:xfrm>
          <a:prstGeom prst="rect">
            <a:avLst/>
          </a:prstGeom>
        </p:spPr>
      </p:pic>
      <p:sp>
        <p:nvSpPr>
          <p:cNvPr id="13" name="Google Shape;931;p69">
            <a:extLst>
              <a:ext uri="{FF2B5EF4-FFF2-40B4-BE49-F238E27FC236}">
                <a16:creationId xmlns:a16="http://schemas.microsoft.com/office/drawing/2014/main" id="{74ABC71F-5D4C-E2E0-48C2-695D636628C9}"/>
              </a:ext>
            </a:extLst>
          </p:cNvPr>
          <p:cNvSpPr txBox="1"/>
          <p:nvPr/>
        </p:nvSpPr>
        <p:spPr>
          <a:xfrm>
            <a:off x="1805356" y="1695177"/>
            <a:ext cx="1512965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>
                <a:solidFill>
                  <a:srgbClr val="FFFF00"/>
                </a:solidFill>
              </a:rPr>
              <a:t>Lobby_CharacterInfo_RedGlow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0B029C4-DE2C-44F1-80C6-3A41A899F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356" y="1701828"/>
            <a:ext cx="1224317" cy="81832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D5D7B74-531F-E901-AAAB-170CDC544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356" y="2916593"/>
            <a:ext cx="2478562" cy="10800"/>
          </a:xfrm>
          <a:prstGeom prst="rect">
            <a:avLst/>
          </a:prstGeom>
        </p:spPr>
      </p:pic>
      <p:sp>
        <p:nvSpPr>
          <p:cNvPr id="16" name="Google Shape;931;p69">
            <a:extLst>
              <a:ext uri="{FF2B5EF4-FFF2-40B4-BE49-F238E27FC236}">
                <a16:creationId xmlns:a16="http://schemas.microsoft.com/office/drawing/2014/main" id="{A5658AF1-83D4-79DD-D71C-E76EEC13A595}"/>
              </a:ext>
            </a:extLst>
          </p:cNvPr>
          <p:cNvSpPr txBox="1"/>
          <p:nvPr/>
        </p:nvSpPr>
        <p:spPr>
          <a:xfrm>
            <a:off x="1813848" y="2684895"/>
            <a:ext cx="1425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 err="1">
                <a:solidFill>
                  <a:srgbClr val="FFFF00"/>
                </a:solidFill>
              </a:rPr>
              <a:t>message_popup_bg_default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BD07C56-41B6-DA06-59B8-4AC23D9C99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2321" y="833823"/>
            <a:ext cx="252000" cy="252000"/>
          </a:xfrm>
          <a:prstGeom prst="rect">
            <a:avLst/>
          </a:prstGeom>
        </p:spPr>
      </p:pic>
      <p:sp>
        <p:nvSpPr>
          <p:cNvPr id="18" name="Google Shape;931;p69">
            <a:extLst>
              <a:ext uri="{FF2B5EF4-FFF2-40B4-BE49-F238E27FC236}">
                <a16:creationId xmlns:a16="http://schemas.microsoft.com/office/drawing/2014/main" id="{1114B762-0154-9215-AC63-585051FB1C62}"/>
              </a:ext>
            </a:extLst>
          </p:cNvPr>
          <p:cNvSpPr txBox="1"/>
          <p:nvPr/>
        </p:nvSpPr>
        <p:spPr>
          <a:xfrm>
            <a:off x="2819457" y="561011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 err="1">
                <a:solidFill>
                  <a:srgbClr val="FFFF00"/>
                </a:solidFill>
              </a:rPr>
              <a:t>Mythic_Button</a:t>
            </a:r>
            <a:r>
              <a:rPr lang="en-US" altLang="ko" sz="700" dirty="0">
                <a:solidFill>
                  <a:srgbClr val="FFFF00"/>
                </a:solidFill>
              </a:rPr>
              <a:t>_ (29)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931;p69">
            <a:extLst>
              <a:ext uri="{FF2B5EF4-FFF2-40B4-BE49-F238E27FC236}">
                <a16:creationId xmlns:a16="http://schemas.microsoft.com/office/drawing/2014/main" id="{034C9F4A-B334-695D-7F0F-512D2FAD7A35}"/>
              </a:ext>
            </a:extLst>
          </p:cNvPr>
          <p:cNvSpPr txBox="1"/>
          <p:nvPr/>
        </p:nvSpPr>
        <p:spPr>
          <a:xfrm>
            <a:off x="3807100" y="557960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 err="1">
                <a:solidFill>
                  <a:srgbClr val="FFFF00"/>
                </a:solidFill>
              </a:rPr>
              <a:t>Mythic_Button</a:t>
            </a:r>
            <a:r>
              <a:rPr lang="en-US" altLang="ko" sz="700" dirty="0">
                <a:solidFill>
                  <a:srgbClr val="FFFF00"/>
                </a:solidFill>
              </a:rPr>
              <a:t>_ (28)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9474EE5-901C-BFC9-C15E-4B704BA28D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9964" y="833823"/>
            <a:ext cx="252000" cy="252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B5BF888-D165-E218-CEF6-DC7CFAAE07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4321" y="1787188"/>
            <a:ext cx="900000" cy="900000"/>
          </a:xfrm>
          <a:prstGeom prst="rect">
            <a:avLst/>
          </a:prstGeom>
        </p:spPr>
      </p:pic>
      <p:sp>
        <p:nvSpPr>
          <p:cNvPr id="27" name="Google Shape;931;p69">
            <a:extLst>
              <a:ext uri="{FF2B5EF4-FFF2-40B4-BE49-F238E27FC236}">
                <a16:creationId xmlns:a16="http://schemas.microsoft.com/office/drawing/2014/main" id="{DE009CFC-97DB-73A7-A57B-CB9B8BC70887}"/>
              </a:ext>
            </a:extLst>
          </p:cNvPr>
          <p:cNvSpPr txBox="1"/>
          <p:nvPr/>
        </p:nvSpPr>
        <p:spPr>
          <a:xfrm>
            <a:off x="3377063" y="1672145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fx_glow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AABCC2-8321-AC2B-E432-395ED478B0C4}"/>
              </a:ext>
            </a:extLst>
          </p:cNvPr>
          <p:cNvSpPr txBox="1"/>
          <p:nvPr/>
        </p:nvSpPr>
        <p:spPr>
          <a:xfrm>
            <a:off x="2924610" y="1117358"/>
            <a:ext cx="7874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Color: 14FF00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B07B44-E5BB-3D1D-F9B9-C05860F0E4A2}"/>
              </a:ext>
            </a:extLst>
          </p:cNvPr>
          <p:cNvSpPr txBox="1"/>
          <p:nvPr/>
        </p:nvSpPr>
        <p:spPr>
          <a:xfrm>
            <a:off x="3518543" y="2566171"/>
            <a:ext cx="7874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Color: C53F2A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743D0656-1C81-ADDB-03AF-8727718E33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0084" y="612029"/>
            <a:ext cx="1500630" cy="372570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0D927124-E4C2-0DE4-38D5-8E035CA508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6407" y="612028"/>
            <a:ext cx="1500631" cy="372570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58EF0AF-2F12-8834-FEEE-5F59B4FBEDC2}"/>
              </a:ext>
            </a:extLst>
          </p:cNvPr>
          <p:cNvSpPr txBox="1"/>
          <p:nvPr/>
        </p:nvSpPr>
        <p:spPr>
          <a:xfrm>
            <a:off x="7999393" y="3168180"/>
            <a:ext cx="15363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Button Anim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정보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</a:p>
          <a:p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[</a:t>
            </a:r>
            <a:r>
              <a:rPr lang="en-US" altLang="ko-KR" sz="700" u="sng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OnClick</a:t>
            </a:r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]</a:t>
            </a: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Dotween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Scale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Duration: 0.07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Delay: 0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Ease: </a:t>
            </a:r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OutQuad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Loops: 2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Loop Type: Yoyo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To: 0.8</a:t>
            </a:r>
          </a:p>
        </p:txBody>
      </p:sp>
      <p:sp>
        <p:nvSpPr>
          <p:cNvPr id="42" name="Google Shape;90;p17">
            <a:extLst>
              <a:ext uri="{FF2B5EF4-FFF2-40B4-BE49-F238E27FC236}">
                <a16:creationId xmlns:a16="http://schemas.microsoft.com/office/drawing/2014/main" id="{379EE864-F53F-8857-4ACE-7F7821CF579F}"/>
              </a:ext>
            </a:extLst>
          </p:cNvPr>
          <p:cNvSpPr txBox="1"/>
          <p:nvPr/>
        </p:nvSpPr>
        <p:spPr>
          <a:xfrm>
            <a:off x="5108404" y="4381056"/>
            <a:ext cx="1003989" cy="176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언어 번환 시</a:t>
            </a:r>
            <a:endParaRPr lang="en-US"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Fx_glow</a:t>
            </a:r>
            <a:r>
              <a:rPr 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On/Off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Google Shape;90;p17">
            <a:extLst>
              <a:ext uri="{FF2B5EF4-FFF2-40B4-BE49-F238E27FC236}">
                <a16:creationId xmlns:a16="http://schemas.microsoft.com/office/drawing/2014/main" id="{4AB5EA51-8F83-C756-0BAB-9030BA875E59}"/>
              </a:ext>
            </a:extLst>
          </p:cNvPr>
          <p:cNvSpPr txBox="1"/>
          <p:nvPr/>
        </p:nvSpPr>
        <p:spPr>
          <a:xfrm>
            <a:off x="6685260" y="4381056"/>
            <a:ext cx="1122923" cy="176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700" dirty="0" err="1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Mysthic</a:t>
            </a:r>
            <a:r>
              <a:rPr lang="en-US" altLang="ko-KR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Button </a:t>
            </a:r>
            <a:r>
              <a:rPr lang="ko-KR" alt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클릭 시</a:t>
            </a:r>
            <a:endParaRPr lang="en-US" altLang="ko-KR"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Sprite Change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895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1482115-6C79-21A8-EEA5-C0A59BFB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;p17">
            <a:extLst>
              <a:ext uri="{FF2B5EF4-FFF2-40B4-BE49-F238E27FC236}">
                <a16:creationId xmlns:a16="http://schemas.microsoft.com/office/drawing/2014/main" id="{32DE46E5-3934-3CA1-4D04-7FD87690D63D}"/>
              </a:ext>
            </a:extLst>
          </p:cNvPr>
          <p:cNvSpPr/>
          <p:nvPr/>
        </p:nvSpPr>
        <p:spPr>
          <a:xfrm rot="10800000">
            <a:off x="0" y="-100"/>
            <a:ext cx="9144000" cy="3021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73737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5;p17">
            <a:extLst>
              <a:ext uri="{FF2B5EF4-FFF2-40B4-BE49-F238E27FC236}">
                <a16:creationId xmlns:a16="http://schemas.microsoft.com/office/drawing/2014/main" id="{3AD17A23-383B-54FA-6761-5E47FC67C935}"/>
              </a:ext>
            </a:extLst>
          </p:cNvPr>
          <p:cNvSpPr txBox="1"/>
          <p:nvPr/>
        </p:nvSpPr>
        <p:spPr>
          <a:xfrm>
            <a:off x="10821" y="8325"/>
            <a:ext cx="3044799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500" dirty="0" err="1">
                <a:solidFill>
                  <a:srgbClr val="FFFFFF"/>
                </a:solidFill>
              </a:rPr>
              <a:t>QuestFollow</a:t>
            </a:r>
            <a:r>
              <a:rPr lang="en-US" sz="1500" dirty="0">
                <a:solidFill>
                  <a:srgbClr val="FFFFFF"/>
                </a:solidFill>
              </a:rPr>
              <a:t>   #1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5" name="Google Shape;325;p30">
            <a:extLst>
              <a:ext uri="{FF2B5EF4-FFF2-40B4-BE49-F238E27FC236}">
                <a16:creationId xmlns:a16="http://schemas.microsoft.com/office/drawing/2014/main" id="{688C7808-F2D9-7A58-06E1-89DC55A31386}"/>
              </a:ext>
            </a:extLst>
          </p:cNvPr>
          <p:cNvSpPr txBox="1"/>
          <p:nvPr/>
        </p:nvSpPr>
        <p:spPr>
          <a:xfrm>
            <a:off x="0" y="4556885"/>
            <a:ext cx="9144000" cy="5864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200" dirty="0">
                <a:solidFill>
                  <a:srgbClr val="FF9900"/>
                </a:solidFill>
              </a:rPr>
              <a:t>기획 </a:t>
            </a:r>
            <a:r>
              <a:rPr lang="ko-KR" altLang="en-US" sz="1200" dirty="0">
                <a:solidFill>
                  <a:srgbClr val="FF9900"/>
                </a:solidFill>
              </a:rPr>
              <a:t>의도</a:t>
            </a:r>
            <a:r>
              <a:rPr lang="ko" sz="1200" dirty="0">
                <a:solidFill>
                  <a:srgbClr val="FF9900"/>
                </a:solidFill>
              </a:rPr>
              <a:t>: </a:t>
            </a:r>
            <a:r>
              <a:rPr lang="ko-KR" altLang="en-US" sz="1200" dirty="0">
                <a:solidFill>
                  <a:srgbClr val="00FF00"/>
                </a:solidFill>
              </a:rPr>
              <a:t>플레이어가 목적성을 잊지 않도록 무엇을 해야 할 지 간단한 가이드 역할</a:t>
            </a:r>
            <a:endParaRPr sz="1200" dirty="0">
              <a:solidFill>
                <a:srgbClr val="00FF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7D1B7E-5398-996B-325A-708963A46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6" y="1237055"/>
            <a:ext cx="1536353" cy="1578102"/>
          </a:xfrm>
          <a:prstGeom prst="rect">
            <a:avLst/>
          </a:prstGeom>
        </p:spPr>
      </p:pic>
      <p:sp>
        <p:nvSpPr>
          <p:cNvPr id="7" name="Google Shape;90;p17">
            <a:extLst>
              <a:ext uri="{FF2B5EF4-FFF2-40B4-BE49-F238E27FC236}">
                <a16:creationId xmlns:a16="http://schemas.microsoft.com/office/drawing/2014/main" id="{EA5F1322-00B5-192A-9002-8A22C47CA500}"/>
              </a:ext>
            </a:extLst>
          </p:cNvPr>
          <p:cNvSpPr txBox="1"/>
          <p:nvPr/>
        </p:nvSpPr>
        <p:spPr>
          <a:xfrm>
            <a:off x="1103504" y="2865146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초기 시작 상태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31A1039-B941-E009-AE92-CAB0CFBE9298}"/>
              </a:ext>
            </a:extLst>
          </p:cNvPr>
          <p:cNvCxnSpPr/>
          <p:nvPr/>
        </p:nvCxnSpPr>
        <p:spPr>
          <a:xfrm>
            <a:off x="2400300" y="2024889"/>
            <a:ext cx="24384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7FA462D8-D727-6339-60B7-27A76AEAD6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621" y="1228920"/>
            <a:ext cx="1536353" cy="1579268"/>
          </a:xfrm>
          <a:prstGeom prst="rect">
            <a:avLst/>
          </a:prstGeom>
        </p:spPr>
      </p:pic>
      <p:sp>
        <p:nvSpPr>
          <p:cNvPr id="11" name="Google Shape;90;p17">
            <a:extLst>
              <a:ext uri="{FF2B5EF4-FFF2-40B4-BE49-F238E27FC236}">
                <a16:creationId xmlns:a16="http://schemas.microsoft.com/office/drawing/2014/main" id="{37870A52-C579-E553-337F-7AF0D115620B}"/>
              </a:ext>
            </a:extLst>
          </p:cNvPr>
          <p:cNvSpPr txBox="1"/>
          <p:nvPr/>
        </p:nvSpPr>
        <p:spPr>
          <a:xfrm>
            <a:off x="3178169" y="2865146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의뢰 수주 시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F07D7C2-F668-5EC6-EFB5-E8EF03F007EE}"/>
              </a:ext>
            </a:extLst>
          </p:cNvPr>
          <p:cNvCxnSpPr/>
          <p:nvPr/>
        </p:nvCxnSpPr>
        <p:spPr>
          <a:xfrm>
            <a:off x="4480560" y="2024889"/>
            <a:ext cx="24384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E009E6A3-8997-A0A2-60DC-8BFCA5EF0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87" y="1228921"/>
            <a:ext cx="1536354" cy="1586726"/>
          </a:xfrm>
          <a:prstGeom prst="rect">
            <a:avLst/>
          </a:prstGeom>
        </p:spPr>
      </p:pic>
      <p:sp>
        <p:nvSpPr>
          <p:cNvPr id="14" name="Google Shape;90;p17">
            <a:extLst>
              <a:ext uri="{FF2B5EF4-FFF2-40B4-BE49-F238E27FC236}">
                <a16:creationId xmlns:a16="http://schemas.microsoft.com/office/drawing/2014/main" id="{AB74A568-AB10-D8ED-D9BC-7AE90EC908AE}"/>
              </a:ext>
            </a:extLst>
          </p:cNvPr>
          <p:cNvSpPr txBox="1"/>
          <p:nvPr/>
        </p:nvSpPr>
        <p:spPr>
          <a:xfrm>
            <a:off x="5211536" y="2865146"/>
            <a:ext cx="815256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의뢰 진행중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CBA9247-939B-CA2B-A7B0-7CB01C86968A}"/>
              </a:ext>
            </a:extLst>
          </p:cNvPr>
          <p:cNvCxnSpPr/>
          <p:nvPr/>
        </p:nvCxnSpPr>
        <p:spPr>
          <a:xfrm>
            <a:off x="6499860" y="2024889"/>
            <a:ext cx="24384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4D04E7EB-E9D6-02E8-C462-E232F36B5D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354" y="1228920"/>
            <a:ext cx="1536353" cy="1587851"/>
          </a:xfrm>
          <a:prstGeom prst="rect">
            <a:avLst/>
          </a:prstGeom>
        </p:spPr>
      </p:pic>
      <p:sp>
        <p:nvSpPr>
          <p:cNvPr id="18" name="Google Shape;90;p17">
            <a:extLst>
              <a:ext uri="{FF2B5EF4-FFF2-40B4-BE49-F238E27FC236}">
                <a16:creationId xmlns:a16="http://schemas.microsoft.com/office/drawing/2014/main" id="{F4C91EB4-1874-33C2-72EE-73C2A86BC5DC}"/>
              </a:ext>
            </a:extLst>
          </p:cNvPr>
          <p:cNvSpPr txBox="1"/>
          <p:nvPr/>
        </p:nvSpPr>
        <p:spPr>
          <a:xfrm>
            <a:off x="7163753" y="2865146"/>
            <a:ext cx="977553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의뢰  목표 달성 시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Google Shape;536;p44">
            <a:extLst>
              <a:ext uri="{FF2B5EF4-FFF2-40B4-BE49-F238E27FC236}">
                <a16:creationId xmlns:a16="http://schemas.microsoft.com/office/drawing/2014/main" id="{7B1B5B0D-3BEA-76BC-40B7-4BEB3B4201B4}"/>
              </a:ext>
            </a:extLst>
          </p:cNvPr>
          <p:cNvSpPr txBox="1"/>
          <p:nvPr/>
        </p:nvSpPr>
        <p:spPr>
          <a:xfrm>
            <a:off x="681996" y="959161"/>
            <a:ext cx="10014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진행 흐름</a:t>
            </a:r>
            <a:endParaRPr sz="1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65CBCF-ED07-0444-9738-0BDE9CC0C690}"/>
              </a:ext>
            </a:extLst>
          </p:cNvPr>
          <p:cNvSpPr txBox="1"/>
          <p:nvPr/>
        </p:nvSpPr>
        <p:spPr>
          <a:xfrm>
            <a:off x="2817621" y="3124882"/>
            <a:ext cx="15363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Anim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정보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Dotween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Move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Duration: 0.5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Delay: 0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Ease: </a:t>
            </a:r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OutCubic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Loops: 1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To: x 50, y -2, z 0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C9D58-5347-E52F-26B4-CDFEC6178DA9}"/>
              </a:ext>
            </a:extLst>
          </p:cNvPr>
          <p:cNvSpPr txBox="1"/>
          <p:nvPr/>
        </p:nvSpPr>
        <p:spPr>
          <a:xfrm>
            <a:off x="6884354" y="3124882"/>
            <a:ext cx="15363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Anim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정보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Particle</a:t>
            </a: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Quest_Done_Effect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Google Shape;90;p17">
            <a:extLst>
              <a:ext uri="{FF2B5EF4-FFF2-40B4-BE49-F238E27FC236}">
                <a16:creationId xmlns:a16="http://schemas.microsoft.com/office/drawing/2014/main" id="{AAA1515C-BA44-3064-CC22-4747C9267754}"/>
              </a:ext>
            </a:extLst>
          </p:cNvPr>
          <p:cNvSpPr txBox="1"/>
          <p:nvPr/>
        </p:nvSpPr>
        <p:spPr>
          <a:xfrm>
            <a:off x="7163752" y="3936401"/>
            <a:ext cx="977553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의뢰 완료 시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973EA5-BDE1-3863-F633-44EDDBBBCA79}"/>
              </a:ext>
            </a:extLst>
          </p:cNvPr>
          <p:cNvSpPr txBox="1"/>
          <p:nvPr/>
        </p:nvSpPr>
        <p:spPr>
          <a:xfrm>
            <a:off x="6945314" y="4064945"/>
            <a:ext cx="1536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Anim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정보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DoPlayBackward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E0C2606-4BB5-0958-89A0-B3EA94DDB35B}"/>
              </a:ext>
            </a:extLst>
          </p:cNvPr>
          <p:cNvCxnSpPr>
            <a:cxnSpLocks/>
          </p:cNvCxnSpPr>
          <p:nvPr/>
        </p:nvCxnSpPr>
        <p:spPr>
          <a:xfrm>
            <a:off x="7665720" y="3586100"/>
            <a:ext cx="0" cy="22303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A133E8F-B621-797F-91D2-C6FCE2AC75CD}"/>
              </a:ext>
            </a:extLst>
          </p:cNvPr>
          <p:cNvCxnSpPr>
            <a:cxnSpLocks/>
          </p:cNvCxnSpPr>
          <p:nvPr/>
        </p:nvCxnSpPr>
        <p:spPr>
          <a:xfrm flipH="1">
            <a:off x="4110134" y="3683129"/>
            <a:ext cx="24384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50E6B9D-B78F-6A23-5ADC-7CD7C6567F71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4353974" y="4218834"/>
            <a:ext cx="2591340" cy="3986"/>
          </a:xfrm>
          <a:prstGeom prst="line">
            <a:avLst/>
          </a:prstGeom>
          <a:ln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D2C486D-31CB-5ECA-89E2-82C299F191F8}"/>
              </a:ext>
            </a:extLst>
          </p:cNvPr>
          <p:cNvCxnSpPr>
            <a:cxnSpLocks/>
          </p:cNvCxnSpPr>
          <p:nvPr/>
        </p:nvCxnSpPr>
        <p:spPr>
          <a:xfrm>
            <a:off x="4353974" y="3684164"/>
            <a:ext cx="0" cy="54493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8F4207-6817-2C39-C7BD-5DD53B966188}"/>
              </a:ext>
            </a:extLst>
          </p:cNvPr>
          <p:cNvSpPr txBox="1"/>
          <p:nvPr/>
        </p:nvSpPr>
        <p:spPr>
          <a:xfrm>
            <a:off x="345599" y="31042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9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모험가 협회에서 의뢰를 수주 시 </a:t>
            </a:r>
            <a:r>
              <a:rPr lang="en-US" altLang="ko-KR" sz="9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active</a:t>
            </a:r>
          </a:p>
          <a:p>
            <a:pPr marL="171450" indent="-171450">
              <a:buFontTx/>
              <a:buChar char="-"/>
            </a:pPr>
            <a:r>
              <a:rPr lang="ko-KR" altLang="en-US" sz="9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모든 임무는 몬스터 드랍 아이템 </a:t>
            </a:r>
            <a:r>
              <a:rPr lang="en-US" altLang="ko-KR" sz="9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n</a:t>
            </a:r>
            <a:r>
              <a:rPr lang="ko-KR" altLang="en-US" sz="9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개를 모으는 방식</a:t>
            </a:r>
          </a:p>
        </p:txBody>
      </p:sp>
    </p:spTree>
    <p:extLst>
      <p:ext uri="{BB962C8B-B14F-4D97-AF65-F5344CB8AC3E}">
        <p14:creationId xmlns:p14="http://schemas.microsoft.com/office/powerpoint/2010/main" val="325718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F898E72-66BB-A406-F9AF-B75F46BA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;p17">
            <a:extLst>
              <a:ext uri="{FF2B5EF4-FFF2-40B4-BE49-F238E27FC236}">
                <a16:creationId xmlns:a16="http://schemas.microsoft.com/office/drawing/2014/main" id="{3C187628-33A2-1E23-1F3C-35C9C0E0A9F2}"/>
              </a:ext>
            </a:extLst>
          </p:cNvPr>
          <p:cNvSpPr/>
          <p:nvPr/>
        </p:nvSpPr>
        <p:spPr>
          <a:xfrm rot="10800000">
            <a:off x="0" y="-100"/>
            <a:ext cx="9144000" cy="3021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73737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5;p17">
            <a:extLst>
              <a:ext uri="{FF2B5EF4-FFF2-40B4-BE49-F238E27FC236}">
                <a16:creationId xmlns:a16="http://schemas.microsoft.com/office/drawing/2014/main" id="{54413280-A935-2FF4-FAED-DE7F8BB3CCAC}"/>
              </a:ext>
            </a:extLst>
          </p:cNvPr>
          <p:cNvSpPr txBox="1"/>
          <p:nvPr/>
        </p:nvSpPr>
        <p:spPr>
          <a:xfrm>
            <a:off x="10821" y="8325"/>
            <a:ext cx="50802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2400"/>
            </a:pPr>
            <a:r>
              <a:rPr lang="en-US" sz="1500" dirty="0" err="1">
                <a:solidFill>
                  <a:srgbClr val="FFFFFF"/>
                </a:solidFill>
              </a:rPr>
              <a:t>QuestFollow</a:t>
            </a:r>
            <a:r>
              <a:rPr lang="en-US" sz="1500" dirty="0">
                <a:solidFill>
                  <a:srgbClr val="FFFFFF"/>
                </a:solidFill>
              </a:rPr>
              <a:t>   </a:t>
            </a:r>
            <a:r>
              <a:rPr lang="en-US" altLang="ko-KR" sz="1500" dirty="0">
                <a:solidFill>
                  <a:srgbClr val="FFFFFF"/>
                </a:solidFill>
              </a:rPr>
              <a:t>#2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4" name="Google Shape;76;p17">
            <a:extLst>
              <a:ext uri="{FF2B5EF4-FFF2-40B4-BE49-F238E27FC236}">
                <a16:creationId xmlns:a16="http://schemas.microsoft.com/office/drawing/2014/main" id="{1D1DA197-D450-824D-F29F-4AD5A1786081}"/>
              </a:ext>
            </a:extLst>
          </p:cNvPr>
          <p:cNvSpPr txBox="1"/>
          <p:nvPr/>
        </p:nvSpPr>
        <p:spPr>
          <a:xfrm>
            <a:off x="9275" y="325650"/>
            <a:ext cx="34887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Char char="-"/>
            </a:pPr>
            <a:r>
              <a:rPr lang="ko-KR" altLang="en-US" sz="900" b="1" dirty="0">
                <a:solidFill>
                  <a:srgbClr val="999999"/>
                </a:solidFill>
              </a:rPr>
              <a:t>사용 </a:t>
            </a:r>
            <a:r>
              <a:rPr lang="en-US" altLang="ko-KR" sz="900" b="1" dirty="0">
                <a:solidFill>
                  <a:srgbClr val="999999"/>
                </a:solidFill>
              </a:rPr>
              <a:t>Asset &amp; </a:t>
            </a:r>
            <a:r>
              <a:rPr lang="ko-KR" altLang="en-US" sz="900" b="1" dirty="0">
                <a:solidFill>
                  <a:srgbClr val="999999"/>
                </a:solidFill>
              </a:rPr>
              <a:t>조합</a:t>
            </a:r>
            <a:endParaRPr sz="1100" b="1" dirty="0">
              <a:solidFill>
                <a:srgbClr val="999999"/>
              </a:solidFill>
            </a:endParaRPr>
          </a:p>
        </p:txBody>
      </p:sp>
      <p:sp>
        <p:nvSpPr>
          <p:cNvPr id="5" name="Google Shape;325;p30">
            <a:extLst>
              <a:ext uri="{FF2B5EF4-FFF2-40B4-BE49-F238E27FC236}">
                <a16:creationId xmlns:a16="http://schemas.microsoft.com/office/drawing/2014/main" id="{37DF4A85-2233-D196-4FE0-A67316C5BFFA}"/>
              </a:ext>
            </a:extLst>
          </p:cNvPr>
          <p:cNvSpPr txBox="1"/>
          <p:nvPr/>
        </p:nvSpPr>
        <p:spPr>
          <a:xfrm>
            <a:off x="0" y="4556885"/>
            <a:ext cx="9144000" cy="5864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dirty="0">
              <a:solidFill>
                <a:srgbClr val="00FF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1F0D21F-C03A-CB16-5580-34C8A6FDC999}"/>
              </a:ext>
            </a:extLst>
          </p:cNvPr>
          <p:cNvGrpSpPr/>
          <p:nvPr/>
        </p:nvGrpSpPr>
        <p:grpSpPr>
          <a:xfrm>
            <a:off x="559390" y="685278"/>
            <a:ext cx="2478562" cy="1553552"/>
            <a:chOff x="617288" y="975541"/>
            <a:chExt cx="2478562" cy="155355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86385A1-7F07-3FB3-3E3D-80E533721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288" y="1207239"/>
              <a:ext cx="2478562" cy="108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13249FB-35EA-EFE2-FB4B-AC9708966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272" y="1556662"/>
              <a:ext cx="1607752" cy="972431"/>
            </a:xfrm>
            <a:prstGeom prst="rect">
              <a:avLst/>
            </a:prstGeom>
          </p:spPr>
        </p:pic>
        <p:sp>
          <p:nvSpPr>
            <p:cNvPr id="23" name="Google Shape;931;p69">
              <a:extLst>
                <a:ext uri="{FF2B5EF4-FFF2-40B4-BE49-F238E27FC236}">
                  <a16:creationId xmlns:a16="http://schemas.microsoft.com/office/drawing/2014/main" id="{E8AE3DDB-2770-2BBE-62EB-839948367B3D}"/>
                </a:ext>
              </a:extLst>
            </p:cNvPr>
            <p:cNvSpPr txBox="1"/>
            <p:nvPr/>
          </p:nvSpPr>
          <p:spPr>
            <a:xfrm>
              <a:off x="625780" y="975541"/>
              <a:ext cx="1425300" cy="16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altLang="ko" sz="700" dirty="0" err="1">
                  <a:solidFill>
                    <a:srgbClr val="FFFF00"/>
                  </a:solidFill>
                </a:rPr>
                <a:t>message_popup_bg_default</a:t>
              </a:r>
              <a:endParaRPr sz="700" b="0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931;p69">
              <a:extLst>
                <a:ext uri="{FF2B5EF4-FFF2-40B4-BE49-F238E27FC236}">
                  <a16:creationId xmlns:a16="http://schemas.microsoft.com/office/drawing/2014/main" id="{AF09FB9A-57B7-77D8-F95F-992AEAFB61E6}"/>
                </a:ext>
              </a:extLst>
            </p:cNvPr>
            <p:cNvSpPr txBox="1"/>
            <p:nvPr/>
          </p:nvSpPr>
          <p:spPr>
            <a:xfrm>
              <a:off x="625780" y="1498224"/>
              <a:ext cx="1425300" cy="16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altLang="ko" sz="700" dirty="0" err="1">
                  <a:solidFill>
                    <a:srgbClr val="FFFF00"/>
                  </a:solidFill>
                </a:rPr>
                <a:t>shop_frame_glow_left</a:t>
              </a:r>
              <a:endParaRPr sz="700" b="0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80574C5-B8C6-8816-5290-9FB82205F2FF}"/>
              </a:ext>
            </a:extLst>
          </p:cNvPr>
          <p:cNvGrpSpPr/>
          <p:nvPr/>
        </p:nvGrpSpPr>
        <p:grpSpPr>
          <a:xfrm>
            <a:off x="2775511" y="1363941"/>
            <a:ext cx="1652388" cy="839718"/>
            <a:chOff x="3810929" y="633732"/>
            <a:chExt cx="1913537" cy="972431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9D8D93C6-C516-F1A9-3ADA-20460CF24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929" y="788750"/>
              <a:ext cx="1913537" cy="8338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E20AA59-3CCF-46BF-86C6-28081AE57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929" y="1436450"/>
              <a:ext cx="1913537" cy="8338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1610DA3D-9D31-0E6D-62A8-20B74F165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4705" y="633732"/>
              <a:ext cx="1607752" cy="972431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8E2E860-49B1-C858-3210-1C8FDD0C9CF8}"/>
                </a:ext>
              </a:extLst>
            </p:cNvPr>
            <p:cNvSpPr/>
            <p:nvPr/>
          </p:nvSpPr>
          <p:spPr>
            <a:xfrm>
              <a:off x="3810929" y="758270"/>
              <a:ext cx="1205802" cy="720000"/>
            </a:xfrm>
            <a:prstGeom prst="rect">
              <a:avLst/>
            </a:prstGeom>
            <a:noFill/>
            <a:ln>
              <a:solidFill>
                <a:srgbClr val="FF99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9939E25-42A9-08CF-D431-4592EE6197A4}"/>
              </a:ext>
            </a:extLst>
          </p:cNvPr>
          <p:cNvCxnSpPr/>
          <p:nvPr/>
        </p:nvCxnSpPr>
        <p:spPr>
          <a:xfrm flipV="1">
            <a:off x="3335136" y="1378327"/>
            <a:ext cx="0" cy="93261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A122D12-8CE9-9239-F549-99A4C718028E}"/>
              </a:ext>
            </a:extLst>
          </p:cNvPr>
          <p:cNvCxnSpPr>
            <a:cxnSpLocks/>
          </p:cNvCxnSpPr>
          <p:nvPr/>
        </p:nvCxnSpPr>
        <p:spPr>
          <a:xfrm>
            <a:off x="3328556" y="1371692"/>
            <a:ext cx="373043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776EC87-88E3-4722-83EF-AABA8F8E4315}"/>
              </a:ext>
            </a:extLst>
          </p:cNvPr>
          <p:cNvCxnSpPr/>
          <p:nvPr/>
        </p:nvCxnSpPr>
        <p:spPr>
          <a:xfrm flipV="1">
            <a:off x="3694042" y="1287681"/>
            <a:ext cx="0" cy="93261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oogle Shape;931;p69">
            <a:extLst>
              <a:ext uri="{FF2B5EF4-FFF2-40B4-BE49-F238E27FC236}">
                <a16:creationId xmlns:a16="http://schemas.microsoft.com/office/drawing/2014/main" id="{864D55B0-EAAB-8FFB-23E2-B9677E4D8FAB}"/>
              </a:ext>
            </a:extLst>
          </p:cNvPr>
          <p:cNvSpPr txBox="1"/>
          <p:nvPr/>
        </p:nvSpPr>
        <p:spPr>
          <a:xfrm>
            <a:off x="3086208" y="1108175"/>
            <a:ext cx="1230782" cy="14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700" i="0" u="none" strike="noStrike" cap="none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Mask </a:t>
            </a:r>
            <a:r>
              <a:rPr lang="ko-KR" altLang="en-US" sz="700" i="0" u="none" strike="noStrike" cap="none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처리</a:t>
            </a:r>
            <a:endParaRPr sz="700" i="0" u="none" strike="noStrike" cap="none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FEBB758-958A-5E32-52C2-8C2238D70B10}"/>
              </a:ext>
            </a:extLst>
          </p:cNvPr>
          <p:cNvGrpSpPr/>
          <p:nvPr/>
        </p:nvGrpSpPr>
        <p:grpSpPr>
          <a:xfrm>
            <a:off x="2544977" y="2789736"/>
            <a:ext cx="3109131" cy="1141374"/>
            <a:chOff x="4040228" y="2043360"/>
            <a:chExt cx="3109131" cy="1141374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532914A-1802-875E-5CFE-37DD4E9A1188}"/>
                </a:ext>
              </a:extLst>
            </p:cNvPr>
            <p:cNvSpPr/>
            <p:nvPr/>
          </p:nvSpPr>
          <p:spPr>
            <a:xfrm>
              <a:off x="4040228" y="2056904"/>
              <a:ext cx="1649701" cy="1127830"/>
            </a:xfrm>
            <a:prstGeom prst="rect">
              <a:avLst/>
            </a:prstGeom>
            <a:solidFill>
              <a:schemeClr val="bg1">
                <a:lumMod val="10000"/>
                <a:lumOff val="90000"/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9300DE0D-7567-7952-BD4A-6C9C525B6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100000" contras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40228" y="2043360"/>
              <a:ext cx="1388334" cy="839718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3CDB4889-FA8B-A3C5-530A-78CDC96B5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rgbClr val="F8C376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4221750" y="2291933"/>
              <a:ext cx="1388334" cy="839718"/>
            </a:xfrm>
            <a:prstGeom prst="rect">
              <a:avLst/>
            </a:prstGeom>
            <a:noFill/>
          </p:spPr>
        </p:pic>
        <p:sp>
          <p:nvSpPr>
            <p:cNvPr id="46" name="Google Shape;931;p69">
              <a:extLst>
                <a:ext uri="{FF2B5EF4-FFF2-40B4-BE49-F238E27FC236}">
                  <a16:creationId xmlns:a16="http://schemas.microsoft.com/office/drawing/2014/main" id="{BE345D5E-F444-E506-7471-4ED6496FE816}"/>
                </a:ext>
              </a:extLst>
            </p:cNvPr>
            <p:cNvSpPr txBox="1"/>
            <p:nvPr/>
          </p:nvSpPr>
          <p:spPr>
            <a:xfrm>
              <a:off x="5777283" y="2232485"/>
              <a:ext cx="1230782" cy="145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700" b="0" i="0" u="none" strike="noStrike" cap="none" dirty="0">
                  <a:solidFill>
                    <a:srgbClr val="FF99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Layer1</a:t>
              </a:r>
              <a:endParaRPr sz="700" b="0" i="0" u="none" strike="noStrike" cap="none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931;p69">
              <a:extLst>
                <a:ext uri="{FF2B5EF4-FFF2-40B4-BE49-F238E27FC236}">
                  <a16:creationId xmlns:a16="http://schemas.microsoft.com/office/drawing/2014/main" id="{A11B3DB9-BF0D-2A7B-BB9F-604C41C75772}"/>
                </a:ext>
              </a:extLst>
            </p:cNvPr>
            <p:cNvSpPr txBox="1"/>
            <p:nvPr/>
          </p:nvSpPr>
          <p:spPr>
            <a:xfrm>
              <a:off x="5918577" y="2602494"/>
              <a:ext cx="1230782" cy="145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700" b="0" i="0" u="none" strike="noStrike" cap="none" dirty="0">
                  <a:solidFill>
                    <a:srgbClr val="FF99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Arial"/>
                  <a:cs typeface="Arial"/>
                  <a:sym typeface="Arial"/>
                </a:rPr>
                <a:t>Layer2</a:t>
              </a:r>
              <a:endParaRPr sz="700" b="0" i="0" u="none" strike="noStrike" cap="none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931;p69">
              <a:extLst>
                <a:ext uri="{FF2B5EF4-FFF2-40B4-BE49-F238E27FC236}">
                  <a16:creationId xmlns:a16="http://schemas.microsoft.com/office/drawing/2014/main" id="{492F036D-CC7D-AD84-85EB-0351B061456B}"/>
                </a:ext>
              </a:extLst>
            </p:cNvPr>
            <p:cNvSpPr txBox="1"/>
            <p:nvPr/>
          </p:nvSpPr>
          <p:spPr>
            <a:xfrm>
              <a:off x="5777283" y="2371154"/>
              <a:ext cx="1230782" cy="145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ko-KR" altLang="en-US" sz="700" dirty="0" err="1">
                  <a:solidFill>
                    <a:schemeClr val="bg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컬러값</a:t>
              </a:r>
              <a:r>
                <a:rPr lang="en-US" altLang="ko-KR" sz="700" dirty="0">
                  <a:solidFill>
                    <a:schemeClr val="bg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 000000</a:t>
              </a:r>
              <a:endParaRPr sz="700" b="0" i="0" u="none" strike="noStrike" cap="none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4D8EE62-6664-4DBE-D087-CA8F716B4776}"/>
                </a:ext>
              </a:extLst>
            </p:cNvPr>
            <p:cNvSpPr txBox="1"/>
            <p:nvPr/>
          </p:nvSpPr>
          <p:spPr>
            <a:xfrm>
              <a:off x="5918577" y="2727937"/>
              <a:ext cx="83708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50000"/>
                      <a:lumOff val="50000"/>
                    </a:schemeClr>
                  </a:solidFill>
                </a:rPr>
                <a:t>컬러값</a:t>
              </a:r>
              <a:endPara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endParaRPr>
            </a:p>
            <a:p>
              <a:r>
                <a:rPr lang="ko-KR" altLang="en-US" sz="700" dirty="0">
                  <a:solidFill>
                    <a:schemeClr val="bg1">
                      <a:lumMod val="50000"/>
                      <a:lumOff val="50000"/>
                    </a:schemeClr>
                  </a:solidFill>
                </a:rPr>
                <a:t>진행중</a:t>
              </a:r>
              <a:r>
                <a:rPr lang="en-US" altLang="ko-KR" sz="700" dirty="0">
                  <a:solidFill>
                    <a:schemeClr val="bg1">
                      <a:lumMod val="50000"/>
                      <a:lumOff val="50000"/>
                    </a:schemeClr>
                  </a:solidFill>
                </a:rPr>
                <a:t>: </a:t>
              </a:r>
              <a:r>
                <a:rPr lang="en-US" altLang="ko-KR" sz="700" dirty="0">
                  <a:solidFill>
                    <a:schemeClr val="bg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FFC84E</a:t>
              </a:r>
            </a:p>
            <a:p>
              <a:r>
                <a:rPr lang="ko-KR" altLang="en-US" sz="700" dirty="0">
                  <a:solidFill>
                    <a:schemeClr val="bg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완료</a:t>
              </a:r>
              <a:r>
                <a:rPr lang="en-US" altLang="ko-KR" sz="700" dirty="0">
                  <a:solidFill>
                    <a:schemeClr val="bg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 57FA00</a:t>
              </a:r>
              <a:endPara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43C7EB2-C21F-831F-BD32-45C855D7577A}"/>
                </a:ext>
              </a:extLst>
            </p:cNvPr>
            <p:cNvCxnSpPr>
              <a:cxnSpLocks/>
            </p:cNvCxnSpPr>
            <p:nvPr/>
          </p:nvCxnSpPr>
          <p:spPr>
            <a:xfrm>
              <a:off x="5025889" y="2307284"/>
              <a:ext cx="803378" cy="0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E642494-002B-46D1-51F5-D4470C33AC42}"/>
                </a:ext>
              </a:extLst>
            </p:cNvPr>
            <p:cNvCxnSpPr>
              <a:cxnSpLocks/>
            </p:cNvCxnSpPr>
            <p:nvPr/>
          </p:nvCxnSpPr>
          <p:spPr>
            <a:xfrm>
              <a:off x="5160223" y="2677758"/>
              <a:ext cx="803378" cy="0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7507A01-005A-8A46-B433-B0021E3C1ED9}"/>
              </a:ext>
            </a:extLst>
          </p:cNvPr>
          <p:cNvCxnSpPr>
            <a:cxnSpLocks/>
          </p:cNvCxnSpPr>
          <p:nvPr/>
        </p:nvCxnSpPr>
        <p:spPr>
          <a:xfrm>
            <a:off x="4823548" y="1782352"/>
            <a:ext cx="386567" cy="0"/>
          </a:xfrm>
          <a:prstGeom prst="straightConnector1">
            <a:avLst/>
          </a:prstGeom>
          <a:ln>
            <a:solidFill>
              <a:schemeClr val="bg1">
                <a:lumMod val="10000"/>
                <a:lumOff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566476B-F69D-214B-BE98-48D1709525B0}"/>
              </a:ext>
            </a:extLst>
          </p:cNvPr>
          <p:cNvGrpSpPr/>
          <p:nvPr/>
        </p:nvGrpSpPr>
        <p:grpSpPr>
          <a:xfrm>
            <a:off x="5775529" y="1474700"/>
            <a:ext cx="1131661" cy="599433"/>
            <a:chOff x="5775529" y="1440633"/>
            <a:chExt cx="1131661" cy="599433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2C61B4D3-726F-DA3A-BA6E-56114B809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100000" contrast="100000"/>
                      </a14:imgEffect>
                    </a14:imgLayer>
                  </a14:imgProps>
                </a:ext>
              </a:extLst>
            </a:blip>
            <a:srcRect t="17830" r="20890" b="19379"/>
            <a:stretch>
              <a:fillRect/>
            </a:stretch>
          </p:blipFill>
          <p:spPr>
            <a:xfrm>
              <a:off x="5808866" y="1493083"/>
              <a:ext cx="1098321" cy="527267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8F4F673A-570F-3FE2-0ECD-0DC2084A5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rgbClr val="F8C376">
                  <a:tint val="45000"/>
                  <a:satMod val="400000"/>
                </a:srgbClr>
              </a:duotone>
              <a:alphaModFix amt="85000"/>
            </a:blip>
            <a:srcRect t="18337" r="20889" b="18713"/>
            <a:stretch>
              <a:fillRect/>
            </a:stretch>
          </p:blipFill>
          <p:spPr>
            <a:xfrm>
              <a:off x="5808866" y="1493083"/>
              <a:ext cx="1098324" cy="528598"/>
            </a:xfrm>
            <a:prstGeom prst="rect">
              <a:avLst/>
            </a:prstGeom>
            <a:noFill/>
          </p:spPr>
        </p:pic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017EC8AB-8DD0-2B42-03C0-BE9AD28D1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423324" r="54342" b="-72694"/>
            <a:stretch>
              <a:fillRect/>
            </a:stretch>
          </p:blipFill>
          <p:spPr>
            <a:xfrm>
              <a:off x="5775529" y="1440633"/>
              <a:ext cx="1131658" cy="64370"/>
            </a:xfrm>
            <a:prstGeom prst="rect">
              <a:avLst/>
            </a:prstGeom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29DCF9F4-D3D7-BC7B-F9C9-5C0F75A5A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423324" r="54342" b="-72694"/>
            <a:stretch>
              <a:fillRect/>
            </a:stretch>
          </p:blipFill>
          <p:spPr>
            <a:xfrm>
              <a:off x="5775529" y="1975696"/>
              <a:ext cx="1131658" cy="64370"/>
            </a:xfrm>
            <a:prstGeom prst="rect">
              <a:avLst/>
            </a:prstGeom>
          </p:spPr>
        </p:pic>
      </p:grp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0E495A6-1EA9-A7FF-AB4B-310DA83EC3EB}"/>
              </a:ext>
            </a:extLst>
          </p:cNvPr>
          <p:cNvCxnSpPr>
            <a:cxnSpLocks/>
          </p:cNvCxnSpPr>
          <p:nvPr/>
        </p:nvCxnSpPr>
        <p:spPr>
          <a:xfrm>
            <a:off x="3335136" y="1866585"/>
            <a:ext cx="0" cy="994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4127FC6-ADB6-BD2F-6F66-5F4351A160CC}"/>
              </a:ext>
            </a:extLst>
          </p:cNvPr>
          <p:cNvSpPr txBox="1"/>
          <p:nvPr/>
        </p:nvSpPr>
        <p:spPr>
          <a:xfrm>
            <a:off x="5764231" y="1563643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퀘스트아이템이름</a:t>
            </a:r>
            <a:endParaRPr lang="ko-KR" altLang="en-US" sz="1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6B5E86-C515-06EB-BA55-B605F8455B7A}"/>
              </a:ext>
            </a:extLst>
          </p:cNvPr>
          <p:cNvSpPr txBox="1"/>
          <p:nvPr/>
        </p:nvSpPr>
        <p:spPr>
          <a:xfrm>
            <a:off x="5936488" y="1771141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1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9999</a:t>
            </a:r>
            <a:r>
              <a:rPr lang="en-US" altLang="ko-KR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/9999)</a:t>
            </a:r>
            <a:endParaRPr lang="ko-KR" altLang="en-US" sz="1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28533C-4FD9-9C45-DE76-1E8B4F4AFF1D}"/>
              </a:ext>
            </a:extLst>
          </p:cNvPr>
          <p:cNvSpPr txBox="1"/>
          <p:nvPr/>
        </p:nvSpPr>
        <p:spPr>
          <a:xfrm>
            <a:off x="5720640" y="2067682"/>
            <a:ext cx="2640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7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해당 아이템 보유량 </a:t>
            </a:r>
            <a:r>
              <a:rPr lang="en-US" altLang="ko-KR" sz="7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 </a:t>
            </a:r>
            <a:r>
              <a:rPr lang="ko-KR" altLang="en-US" sz="7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요구량</a:t>
            </a:r>
            <a:r>
              <a:rPr lang="en-US" altLang="ko-KR" sz="7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ko-KR" altLang="en-US" sz="7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아이템 보유량</a:t>
            </a:r>
            <a:r>
              <a:rPr lang="en-US" altLang="ko-KR" sz="7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txt</a:t>
            </a:r>
            <a:r>
              <a:rPr lang="ko-KR" altLang="en-US" sz="7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는 플레이어가 해당 아이템 습득 시 마다 갱신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88E24A-F97E-25DE-6920-76EECE07131D}"/>
              </a:ext>
            </a:extLst>
          </p:cNvPr>
          <p:cNvSpPr txBox="1"/>
          <p:nvPr/>
        </p:nvSpPr>
        <p:spPr>
          <a:xfrm>
            <a:off x="5720640" y="2421573"/>
            <a:ext cx="1946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컬러값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보유량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0 : </a:t>
            </a:r>
            <a:r>
              <a:rPr lang="en-US" altLang="ko-KR" sz="700" dirty="0">
                <a:solidFill>
                  <a:srgbClr val="FF0000"/>
                </a:solidFill>
              </a:rPr>
              <a:t>FF0000</a:t>
            </a:r>
            <a:endParaRPr lang="en-US" altLang="ko-KR" sz="7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보유량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0 &amp;&amp; 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보유량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요구량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altLang="ko-KR" sz="700" dirty="0">
                <a:solidFill>
                  <a:srgbClr val="FBBB05"/>
                </a:solidFill>
              </a:rPr>
              <a:t>FEA400</a:t>
            </a:r>
            <a:endParaRPr lang="en-US" altLang="ko-KR" sz="700" dirty="0">
              <a:solidFill>
                <a:srgbClr val="FBBB0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보유량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&gt;=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요구량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altLang="ko-KR" sz="700" dirty="0">
                <a:solidFill>
                  <a:srgbClr val="00FF00"/>
                </a:solidFill>
              </a:rPr>
              <a:t>00FF00</a:t>
            </a:r>
            <a:endParaRPr lang="ko-KR" altLang="en-US"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5600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7276FCB-C42B-E424-5159-D5E38D4B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;p17">
            <a:extLst>
              <a:ext uri="{FF2B5EF4-FFF2-40B4-BE49-F238E27FC236}">
                <a16:creationId xmlns:a16="http://schemas.microsoft.com/office/drawing/2014/main" id="{986FB02B-0E45-0853-1D85-382B86C9F9C3}"/>
              </a:ext>
            </a:extLst>
          </p:cNvPr>
          <p:cNvSpPr/>
          <p:nvPr/>
        </p:nvSpPr>
        <p:spPr>
          <a:xfrm rot="10800000">
            <a:off x="0" y="-100"/>
            <a:ext cx="9144000" cy="3021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73737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5;p17">
            <a:extLst>
              <a:ext uri="{FF2B5EF4-FFF2-40B4-BE49-F238E27FC236}">
                <a16:creationId xmlns:a16="http://schemas.microsoft.com/office/drawing/2014/main" id="{701E0594-EFFF-CCD4-9484-F92CE6EA61E3}"/>
              </a:ext>
            </a:extLst>
          </p:cNvPr>
          <p:cNvSpPr txBox="1"/>
          <p:nvPr/>
        </p:nvSpPr>
        <p:spPr>
          <a:xfrm>
            <a:off x="10821" y="8325"/>
            <a:ext cx="3044799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1500" dirty="0">
                <a:solidFill>
                  <a:srgbClr val="FFFFFF"/>
                </a:solidFill>
              </a:rPr>
              <a:t>상태정보</a:t>
            </a:r>
            <a:r>
              <a:rPr lang="en-US" altLang="ko-KR" sz="1500" dirty="0">
                <a:solidFill>
                  <a:srgbClr val="FFFFFF"/>
                </a:solidFill>
              </a:rPr>
              <a:t>(Status)</a:t>
            </a:r>
            <a:r>
              <a:rPr lang="ko-KR" altLang="en-US" sz="1500" dirty="0">
                <a:solidFill>
                  <a:srgbClr val="FFFFFF"/>
                </a:solidFill>
              </a:rPr>
              <a:t> </a:t>
            </a:r>
            <a:r>
              <a:rPr lang="en-US" altLang="ko-KR" sz="1500" dirty="0">
                <a:solidFill>
                  <a:srgbClr val="FFFFFF"/>
                </a:solidFill>
              </a:rPr>
              <a:t>Popup   #1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6" name="Google Shape;325;p30">
            <a:extLst>
              <a:ext uri="{FF2B5EF4-FFF2-40B4-BE49-F238E27FC236}">
                <a16:creationId xmlns:a16="http://schemas.microsoft.com/office/drawing/2014/main" id="{EC0351E3-7C3C-D50C-8599-92E03735E53B}"/>
              </a:ext>
            </a:extLst>
          </p:cNvPr>
          <p:cNvSpPr txBox="1"/>
          <p:nvPr/>
        </p:nvSpPr>
        <p:spPr>
          <a:xfrm>
            <a:off x="1717" y="4557061"/>
            <a:ext cx="9144000" cy="5864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ko-KR" altLang="en-US" sz="1200" dirty="0">
                <a:solidFill>
                  <a:srgbClr val="FF9900"/>
                </a:solidFill>
              </a:rPr>
              <a:t>기획 의도</a:t>
            </a:r>
            <a:r>
              <a:rPr lang="en-US" altLang="ko-KR" sz="1200" dirty="0">
                <a:solidFill>
                  <a:srgbClr val="FF9900"/>
                </a:solidFill>
              </a:rPr>
              <a:t>: </a:t>
            </a:r>
            <a:r>
              <a:rPr lang="ko-KR" altLang="en-US" sz="1200" dirty="0">
                <a:solidFill>
                  <a:srgbClr val="00FF00"/>
                </a:solidFill>
              </a:rPr>
              <a:t>해당 </a:t>
            </a:r>
            <a:r>
              <a:rPr lang="en-US" altLang="ko-KR" sz="1200" dirty="0">
                <a:solidFill>
                  <a:srgbClr val="00FF00"/>
                </a:solidFill>
              </a:rPr>
              <a:t>Popup</a:t>
            </a:r>
            <a:r>
              <a:rPr lang="ko-KR" altLang="en-US" sz="1200" dirty="0">
                <a:solidFill>
                  <a:srgbClr val="00FF00"/>
                </a:solidFill>
              </a:rPr>
              <a:t>에 플레이어가 더 집중할 수 있도록</a:t>
            </a:r>
          </a:p>
        </p:txBody>
      </p:sp>
      <p:sp>
        <p:nvSpPr>
          <p:cNvPr id="7" name="Google Shape;76;p17">
            <a:extLst>
              <a:ext uri="{FF2B5EF4-FFF2-40B4-BE49-F238E27FC236}">
                <a16:creationId xmlns:a16="http://schemas.microsoft.com/office/drawing/2014/main" id="{026848DA-3DAB-13C9-2DEB-1E78837AAFFD}"/>
              </a:ext>
            </a:extLst>
          </p:cNvPr>
          <p:cNvSpPr txBox="1"/>
          <p:nvPr/>
        </p:nvSpPr>
        <p:spPr>
          <a:xfrm>
            <a:off x="9275" y="325650"/>
            <a:ext cx="34887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Char char="-"/>
            </a:pPr>
            <a:r>
              <a:rPr lang="ko-KR" altLang="en-US" sz="900" b="1" dirty="0">
                <a:solidFill>
                  <a:srgbClr val="999999"/>
                </a:solidFill>
              </a:rPr>
              <a:t>플레이어의 </a:t>
            </a:r>
            <a:r>
              <a:rPr lang="ko-KR" altLang="en-US" sz="900" b="1" dirty="0" err="1">
                <a:solidFill>
                  <a:srgbClr val="999999"/>
                </a:solidFill>
              </a:rPr>
              <a:t>스탯과</a:t>
            </a:r>
            <a:r>
              <a:rPr lang="ko-KR" altLang="en-US" sz="900" b="1" dirty="0">
                <a:solidFill>
                  <a:srgbClr val="999999"/>
                </a:solidFill>
              </a:rPr>
              <a:t> 각종 능력치를 확인할 수 있는 창</a:t>
            </a:r>
            <a:endParaRPr sz="1100" b="1" dirty="0">
              <a:solidFill>
                <a:srgbClr val="999999"/>
              </a:solidFill>
            </a:endParaRPr>
          </a:p>
        </p:txBody>
      </p:sp>
      <p:sp>
        <p:nvSpPr>
          <p:cNvPr id="10" name="Google Shape;76;p17">
            <a:extLst>
              <a:ext uri="{FF2B5EF4-FFF2-40B4-BE49-F238E27FC236}">
                <a16:creationId xmlns:a16="http://schemas.microsoft.com/office/drawing/2014/main" id="{A9D2AF44-08EB-3C06-01E7-F2E9062885CB}"/>
              </a:ext>
            </a:extLst>
          </p:cNvPr>
          <p:cNvSpPr txBox="1"/>
          <p:nvPr/>
        </p:nvSpPr>
        <p:spPr>
          <a:xfrm>
            <a:off x="9275" y="515073"/>
            <a:ext cx="34887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Char char="-"/>
            </a:pPr>
            <a:r>
              <a:rPr lang="ko-KR" altLang="en-US" sz="900" b="1" dirty="0">
                <a:solidFill>
                  <a:srgbClr val="999999"/>
                </a:solidFill>
              </a:rPr>
              <a:t>최하단 버튼 그룹의 </a:t>
            </a:r>
            <a:r>
              <a:rPr lang="en-US" altLang="ko-KR" sz="900" b="1" dirty="0">
                <a:solidFill>
                  <a:srgbClr val="999999"/>
                </a:solidFill>
              </a:rPr>
              <a:t>[</a:t>
            </a:r>
            <a:r>
              <a:rPr lang="ko-KR" altLang="en-US" sz="900" b="1" dirty="0">
                <a:solidFill>
                  <a:srgbClr val="999999"/>
                </a:solidFill>
              </a:rPr>
              <a:t>상태</a:t>
            </a:r>
            <a:r>
              <a:rPr lang="en-US" altLang="ko-KR" sz="900" b="1" dirty="0">
                <a:solidFill>
                  <a:srgbClr val="999999"/>
                </a:solidFill>
              </a:rPr>
              <a:t>] Button </a:t>
            </a:r>
            <a:r>
              <a:rPr lang="ko-KR" altLang="en-US" sz="900" b="1" dirty="0">
                <a:solidFill>
                  <a:srgbClr val="999999"/>
                </a:solidFill>
              </a:rPr>
              <a:t>누를 시 호출</a:t>
            </a:r>
            <a:endParaRPr sz="1100" b="1" dirty="0">
              <a:solidFill>
                <a:srgbClr val="999999"/>
              </a:solidFill>
            </a:endParaRPr>
          </a:p>
        </p:txBody>
      </p:sp>
      <p:sp>
        <p:nvSpPr>
          <p:cNvPr id="69" name="Google Shape;931;p69">
            <a:extLst>
              <a:ext uri="{FF2B5EF4-FFF2-40B4-BE49-F238E27FC236}">
                <a16:creationId xmlns:a16="http://schemas.microsoft.com/office/drawing/2014/main" id="{61D44275-D363-5873-33E5-67EBB370A580}"/>
              </a:ext>
            </a:extLst>
          </p:cNvPr>
          <p:cNvSpPr txBox="1"/>
          <p:nvPr/>
        </p:nvSpPr>
        <p:spPr>
          <a:xfrm>
            <a:off x="2935498" y="899920"/>
            <a:ext cx="1425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>
                <a:solidFill>
                  <a:srgbClr val="FFFF00"/>
                </a:solidFill>
              </a:rPr>
              <a:t>Frame_square_256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869B3C9-4724-B0F7-97A9-1589726AD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620" y="1133313"/>
            <a:ext cx="737178" cy="737178"/>
          </a:xfrm>
          <a:prstGeom prst="rect">
            <a:avLst/>
          </a:prstGeom>
        </p:spPr>
      </p:pic>
      <p:sp>
        <p:nvSpPr>
          <p:cNvPr id="15" name="Google Shape;931;p69">
            <a:extLst>
              <a:ext uri="{FF2B5EF4-FFF2-40B4-BE49-F238E27FC236}">
                <a16:creationId xmlns:a16="http://schemas.microsoft.com/office/drawing/2014/main" id="{B2137D90-B4CF-DA96-7C13-D1FC2A946D5F}"/>
              </a:ext>
            </a:extLst>
          </p:cNvPr>
          <p:cNvSpPr txBox="1"/>
          <p:nvPr/>
        </p:nvSpPr>
        <p:spPr>
          <a:xfrm>
            <a:off x="2935498" y="2014417"/>
            <a:ext cx="1512965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>
                <a:solidFill>
                  <a:srgbClr val="FFFF00"/>
                </a:solidFill>
              </a:rPr>
              <a:t>Lobby_CharacterInfo_RedGlow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7086C0B-AB06-135D-DEF1-F6685D9D7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498" y="2021068"/>
            <a:ext cx="1224317" cy="81832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9A0069D-D1D0-8E55-842E-08A49D995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498" y="3235833"/>
            <a:ext cx="2478562" cy="10800"/>
          </a:xfrm>
          <a:prstGeom prst="rect">
            <a:avLst/>
          </a:prstGeom>
        </p:spPr>
      </p:pic>
      <p:sp>
        <p:nvSpPr>
          <p:cNvPr id="19" name="Google Shape;931;p69">
            <a:extLst>
              <a:ext uri="{FF2B5EF4-FFF2-40B4-BE49-F238E27FC236}">
                <a16:creationId xmlns:a16="http://schemas.microsoft.com/office/drawing/2014/main" id="{A80BE1F0-350E-2D5C-0D27-2EAD3D0F0439}"/>
              </a:ext>
            </a:extLst>
          </p:cNvPr>
          <p:cNvSpPr txBox="1"/>
          <p:nvPr/>
        </p:nvSpPr>
        <p:spPr>
          <a:xfrm>
            <a:off x="2943990" y="3004135"/>
            <a:ext cx="1425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 err="1">
                <a:solidFill>
                  <a:srgbClr val="FFFF00"/>
                </a:solidFill>
              </a:rPr>
              <a:t>message_popup_bg_default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931;p69">
            <a:extLst>
              <a:ext uri="{FF2B5EF4-FFF2-40B4-BE49-F238E27FC236}">
                <a16:creationId xmlns:a16="http://schemas.microsoft.com/office/drawing/2014/main" id="{42A2FDD3-C35B-0751-CB5A-46274E7F7E99}"/>
              </a:ext>
            </a:extLst>
          </p:cNvPr>
          <p:cNvSpPr txBox="1"/>
          <p:nvPr/>
        </p:nvSpPr>
        <p:spPr>
          <a:xfrm>
            <a:off x="3047369" y="3671558"/>
            <a:ext cx="42933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>
                <a:solidFill>
                  <a:srgbClr val="FFFF00"/>
                </a:solidFill>
              </a:rPr>
              <a:t>Elixir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7C35518-5579-70AB-46FC-66F994AA7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378" y="3874984"/>
            <a:ext cx="252000" cy="252000"/>
          </a:xfrm>
          <a:prstGeom prst="rect">
            <a:avLst/>
          </a:prstGeom>
        </p:spPr>
      </p:pic>
      <p:sp>
        <p:nvSpPr>
          <p:cNvPr id="24" name="Google Shape;931;p69">
            <a:extLst>
              <a:ext uri="{FF2B5EF4-FFF2-40B4-BE49-F238E27FC236}">
                <a16:creationId xmlns:a16="http://schemas.microsoft.com/office/drawing/2014/main" id="{DAE3B57D-8E00-4E41-6A4A-E7E012ED7F68}"/>
              </a:ext>
            </a:extLst>
          </p:cNvPr>
          <p:cNvSpPr txBox="1"/>
          <p:nvPr/>
        </p:nvSpPr>
        <p:spPr>
          <a:xfrm>
            <a:off x="4330544" y="883413"/>
            <a:ext cx="978633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>
                <a:solidFill>
                  <a:srgbClr val="FFFF00"/>
                </a:solidFill>
              </a:rPr>
              <a:t>pick_hero_frame_2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2AB6BB0-E6E6-AA08-DECC-C3502EC646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981" y="1133313"/>
            <a:ext cx="503049" cy="714982"/>
          </a:xfrm>
          <a:prstGeom prst="rect">
            <a:avLst/>
          </a:prstGeom>
        </p:spPr>
      </p:pic>
      <p:sp>
        <p:nvSpPr>
          <p:cNvPr id="27" name="Google Shape;931;p69">
            <a:extLst>
              <a:ext uri="{FF2B5EF4-FFF2-40B4-BE49-F238E27FC236}">
                <a16:creationId xmlns:a16="http://schemas.microsoft.com/office/drawing/2014/main" id="{8A8B93D0-90C4-7744-11E9-37550C4DDB6C}"/>
              </a:ext>
            </a:extLst>
          </p:cNvPr>
          <p:cNvSpPr txBox="1"/>
          <p:nvPr/>
        </p:nvSpPr>
        <p:spPr>
          <a:xfrm>
            <a:off x="3234378" y="3659545"/>
            <a:ext cx="1425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SwitchSelect_ArrowLeft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931;p69">
            <a:extLst>
              <a:ext uri="{FF2B5EF4-FFF2-40B4-BE49-F238E27FC236}">
                <a16:creationId xmlns:a16="http://schemas.microsoft.com/office/drawing/2014/main" id="{9519F230-7BBC-0D8C-D811-C5BC95732A04}"/>
              </a:ext>
            </a:extLst>
          </p:cNvPr>
          <p:cNvSpPr txBox="1"/>
          <p:nvPr/>
        </p:nvSpPr>
        <p:spPr>
          <a:xfrm>
            <a:off x="4448463" y="3663505"/>
            <a:ext cx="14253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SwitchSelect_ArrowRight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D196230-FF26-C611-F931-37ADAB8486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1028" y="3905984"/>
            <a:ext cx="252000" cy="2520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784F57A-1AD1-38C8-06A1-20533E9D9E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5113" y="3926624"/>
            <a:ext cx="252000" cy="2520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CA14572A-D973-7ACF-5E53-45965D47C4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6627" y="3939211"/>
            <a:ext cx="252000" cy="2520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58E97D24-6531-C744-5353-12C12F07F5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0712" y="3929848"/>
            <a:ext cx="252000" cy="252000"/>
          </a:xfrm>
          <a:prstGeom prst="rect">
            <a:avLst/>
          </a:prstGeom>
        </p:spPr>
      </p:pic>
      <p:sp>
        <p:nvSpPr>
          <p:cNvPr id="37" name="Google Shape;931;p69">
            <a:extLst>
              <a:ext uri="{FF2B5EF4-FFF2-40B4-BE49-F238E27FC236}">
                <a16:creationId xmlns:a16="http://schemas.microsoft.com/office/drawing/2014/main" id="{0672AA71-5E05-AD61-A3B4-2943E8955168}"/>
              </a:ext>
            </a:extLst>
          </p:cNvPr>
          <p:cNvSpPr txBox="1"/>
          <p:nvPr/>
        </p:nvSpPr>
        <p:spPr>
          <a:xfrm>
            <a:off x="5873763" y="3659545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Mythic_Button</a:t>
            </a:r>
            <a:r>
              <a:rPr lang="en-US" altLang="ko" sz="700" dirty="0">
                <a:solidFill>
                  <a:srgbClr val="FFFF00"/>
                </a:solidFill>
              </a:rPr>
              <a:t>_ (24)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931;p69">
            <a:extLst>
              <a:ext uri="{FF2B5EF4-FFF2-40B4-BE49-F238E27FC236}">
                <a16:creationId xmlns:a16="http://schemas.microsoft.com/office/drawing/2014/main" id="{8EB1CA2E-F88A-ED77-901B-844B6EF1146A}"/>
              </a:ext>
            </a:extLst>
          </p:cNvPr>
          <p:cNvSpPr txBox="1"/>
          <p:nvPr/>
        </p:nvSpPr>
        <p:spPr>
          <a:xfrm>
            <a:off x="7087848" y="3657036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ko" sz="700" dirty="0" err="1">
                <a:solidFill>
                  <a:srgbClr val="FFFF00"/>
                </a:solidFill>
              </a:rPr>
              <a:t>Mythic_Button</a:t>
            </a:r>
            <a:r>
              <a:rPr lang="en-US" altLang="ko" sz="700" dirty="0">
                <a:solidFill>
                  <a:srgbClr val="FFFF00"/>
                </a:solidFill>
              </a:rPr>
              <a:t>_ (29)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931;p69">
            <a:extLst>
              <a:ext uri="{FF2B5EF4-FFF2-40B4-BE49-F238E27FC236}">
                <a16:creationId xmlns:a16="http://schemas.microsoft.com/office/drawing/2014/main" id="{9FE633E8-F3FB-CEB1-037E-E655D7B24846}"/>
              </a:ext>
            </a:extLst>
          </p:cNvPr>
          <p:cNvSpPr txBox="1"/>
          <p:nvPr/>
        </p:nvSpPr>
        <p:spPr>
          <a:xfrm>
            <a:off x="4488667" y="1998938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shop_frame_glow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2EE32E0D-4209-8F64-30D8-E1BB22FE3C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4440" y="2141955"/>
            <a:ext cx="526183" cy="869956"/>
          </a:xfrm>
          <a:prstGeom prst="rect">
            <a:avLst/>
          </a:prstGeom>
        </p:spPr>
      </p:pic>
      <p:sp>
        <p:nvSpPr>
          <p:cNvPr id="42" name="Google Shape;931;p69">
            <a:extLst>
              <a:ext uri="{FF2B5EF4-FFF2-40B4-BE49-F238E27FC236}">
                <a16:creationId xmlns:a16="http://schemas.microsoft.com/office/drawing/2014/main" id="{12CB8FA1-6E5E-AAF9-9F33-DC97E997590A}"/>
              </a:ext>
            </a:extLst>
          </p:cNvPr>
          <p:cNvSpPr txBox="1"/>
          <p:nvPr/>
        </p:nvSpPr>
        <p:spPr>
          <a:xfrm>
            <a:off x="5975711" y="883413"/>
            <a:ext cx="978633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Frame_bg_big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1D3DBCCC-9E50-FE42-BE26-9ADE46C8C0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05291" y="1143128"/>
            <a:ext cx="1519475" cy="713632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9FEEF75-6C1D-28BF-7B9D-8C2F69425447}"/>
              </a:ext>
            </a:extLst>
          </p:cNvPr>
          <p:cNvCxnSpPr/>
          <p:nvPr/>
        </p:nvCxnSpPr>
        <p:spPr>
          <a:xfrm>
            <a:off x="5558558" y="2637402"/>
            <a:ext cx="417153" cy="0"/>
          </a:xfrm>
          <a:prstGeom prst="line">
            <a:avLst/>
          </a:prstGeom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9FEB0FF-1C00-AE19-5472-59638224981A}"/>
              </a:ext>
            </a:extLst>
          </p:cNvPr>
          <p:cNvCxnSpPr/>
          <p:nvPr/>
        </p:nvCxnSpPr>
        <p:spPr>
          <a:xfrm flipV="1">
            <a:off x="6367160" y="2939683"/>
            <a:ext cx="0" cy="521434"/>
          </a:xfrm>
          <a:prstGeom prst="line">
            <a:avLst/>
          </a:prstGeom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8ECB9EC-B44D-EDC7-764F-01164D557A45}"/>
              </a:ext>
            </a:extLst>
          </p:cNvPr>
          <p:cNvSpPr txBox="1"/>
          <p:nvPr/>
        </p:nvSpPr>
        <p:spPr>
          <a:xfrm>
            <a:off x="5975711" y="2532692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Glow color:934A00</a:t>
            </a: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Alpha: 200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19DA6D-6C41-6C56-D5DD-5990A5AB2F6B}"/>
              </a:ext>
            </a:extLst>
          </p:cNvPr>
          <p:cNvSpPr txBox="1"/>
          <p:nvPr/>
        </p:nvSpPr>
        <p:spPr>
          <a:xfrm>
            <a:off x="7087848" y="2532692"/>
            <a:ext cx="93166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Glow color:458000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5B95C2D-DDEF-2794-020D-1EAFA04A0940}"/>
              </a:ext>
            </a:extLst>
          </p:cNvPr>
          <p:cNvCxnSpPr/>
          <p:nvPr/>
        </p:nvCxnSpPr>
        <p:spPr>
          <a:xfrm flipV="1">
            <a:off x="7543375" y="2939683"/>
            <a:ext cx="0" cy="521434"/>
          </a:xfrm>
          <a:prstGeom prst="line">
            <a:avLst/>
          </a:prstGeom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9F4771F-621A-D2D9-83CC-80D92FA83483}"/>
              </a:ext>
            </a:extLst>
          </p:cNvPr>
          <p:cNvSpPr/>
          <p:nvPr/>
        </p:nvSpPr>
        <p:spPr>
          <a:xfrm>
            <a:off x="5975711" y="2430229"/>
            <a:ext cx="2043800" cy="505494"/>
          </a:xfrm>
          <a:prstGeom prst="rect">
            <a:avLst/>
          </a:prstGeom>
          <a:noFill/>
          <a:ln w="952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996958-7275-B767-BB84-416E964E4F0C}"/>
              </a:ext>
            </a:extLst>
          </p:cNvPr>
          <p:cNvSpPr txBox="1"/>
          <p:nvPr/>
        </p:nvSpPr>
        <p:spPr>
          <a:xfrm>
            <a:off x="6695284" y="2261258"/>
            <a:ext cx="6046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FF00"/>
                </a:solidFill>
              </a:rPr>
              <a:t>Mask </a:t>
            </a:r>
            <a:r>
              <a:rPr lang="ko-KR" altLang="en-US" sz="700" dirty="0">
                <a:solidFill>
                  <a:srgbClr val="00FF00"/>
                </a:solidFill>
              </a:rPr>
              <a:t>처리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2370E3-F769-A607-0DE6-9D71E91B84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1881" y="816042"/>
            <a:ext cx="1389996" cy="3451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541DE7-428B-D0F9-1B36-27FC2222944B}"/>
              </a:ext>
            </a:extLst>
          </p:cNvPr>
          <p:cNvSpPr txBox="1"/>
          <p:nvPr/>
        </p:nvSpPr>
        <p:spPr>
          <a:xfrm>
            <a:off x="1654652" y="2914468"/>
            <a:ext cx="15363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Popup Anim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정보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</a:p>
          <a:p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[</a:t>
            </a:r>
            <a:r>
              <a:rPr lang="en-US" altLang="ko-KR" sz="700" u="sng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OnActive</a:t>
            </a:r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]</a:t>
            </a: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Dotween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Move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Duration: 0.5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Delay: 0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Ease: </a:t>
            </a:r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OutBack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Loops: 1</a:t>
            </a:r>
          </a:p>
          <a:p>
            <a:pPr marL="171450" indent="-171450">
              <a:buFontTx/>
              <a:buChar char="-"/>
            </a:pP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From: x 0, y -120, z 0</a:t>
            </a:r>
          </a:p>
          <a:p>
            <a:pPr marL="171450" indent="-171450">
              <a:buFontTx/>
              <a:buChar char="-"/>
            </a:pP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[</a:t>
            </a:r>
            <a:r>
              <a:rPr lang="en-US" altLang="ko-KR" sz="700" u="sng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OnDisable</a:t>
            </a:r>
            <a:r>
              <a:rPr lang="en-US" altLang="ko-KR" sz="700" u="sng" dirty="0">
                <a:solidFill>
                  <a:schemeClr val="bg1">
                    <a:lumMod val="50000"/>
                    <a:lumOff val="50000"/>
                  </a:schemeClr>
                </a:solidFill>
              </a:rPr>
              <a:t>]</a:t>
            </a: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Rewind</a:t>
            </a:r>
            <a:endParaRPr lang="ko-KR" altLang="en-US" sz="7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Google Shape;90;p17">
            <a:extLst>
              <a:ext uri="{FF2B5EF4-FFF2-40B4-BE49-F238E27FC236}">
                <a16:creationId xmlns:a16="http://schemas.microsoft.com/office/drawing/2014/main" id="{0CF29845-A63B-D9AC-7BDA-889C35FA1E5E}"/>
              </a:ext>
            </a:extLst>
          </p:cNvPr>
          <p:cNvSpPr txBox="1"/>
          <p:nvPr/>
        </p:nvSpPr>
        <p:spPr>
          <a:xfrm>
            <a:off x="464884" y="4327458"/>
            <a:ext cx="1003989" cy="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&amp; Close Anim</a:t>
            </a:r>
            <a:endParaRPr sz="7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3946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5DF3C09-7078-2AF1-11CF-0ED6376B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그림 74">
            <a:extLst>
              <a:ext uri="{FF2B5EF4-FFF2-40B4-BE49-F238E27FC236}">
                <a16:creationId xmlns:a16="http://schemas.microsoft.com/office/drawing/2014/main" id="{D51049AC-7BF6-7C6B-8A45-734297F5F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24" y="536192"/>
            <a:ext cx="1564427" cy="3837600"/>
          </a:xfrm>
          <a:prstGeom prst="rect">
            <a:avLst/>
          </a:prstGeom>
        </p:spPr>
      </p:pic>
      <p:sp>
        <p:nvSpPr>
          <p:cNvPr id="2" name="Google Shape;74;p17">
            <a:extLst>
              <a:ext uri="{FF2B5EF4-FFF2-40B4-BE49-F238E27FC236}">
                <a16:creationId xmlns:a16="http://schemas.microsoft.com/office/drawing/2014/main" id="{290B0D3B-11C4-762A-4590-64744DDF1D73}"/>
              </a:ext>
            </a:extLst>
          </p:cNvPr>
          <p:cNvSpPr/>
          <p:nvPr/>
        </p:nvSpPr>
        <p:spPr>
          <a:xfrm rot="10800000">
            <a:off x="0" y="-100"/>
            <a:ext cx="9144000" cy="3021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73737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5;p17">
            <a:extLst>
              <a:ext uri="{FF2B5EF4-FFF2-40B4-BE49-F238E27FC236}">
                <a16:creationId xmlns:a16="http://schemas.microsoft.com/office/drawing/2014/main" id="{B13687E5-254E-B20A-3C0E-02555A461F32}"/>
              </a:ext>
            </a:extLst>
          </p:cNvPr>
          <p:cNvSpPr txBox="1"/>
          <p:nvPr/>
        </p:nvSpPr>
        <p:spPr>
          <a:xfrm>
            <a:off x="10821" y="8325"/>
            <a:ext cx="3044799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1500" dirty="0">
                <a:solidFill>
                  <a:srgbClr val="FFFFFF"/>
                </a:solidFill>
              </a:rPr>
              <a:t>상태정보</a:t>
            </a:r>
            <a:r>
              <a:rPr lang="en-US" altLang="ko-KR" sz="1500" dirty="0">
                <a:solidFill>
                  <a:srgbClr val="FFFFFF"/>
                </a:solidFill>
              </a:rPr>
              <a:t>(Status)</a:t>
            </a:r>
            <a:r>
              <a:rPr lang="ko-KR" altLang="en-US" sz="1500" dirty="0">
                <a:solidFill>
                  <a:srgbClr val="FFFFFF"/>
                </a:solidFill>
              </a:rPr>
              <a:t> </a:t>
            </a:r>
            <a:r>
              <a:rPr lang="en-US" altLang="ko-KR" sz="1500" dirty="0">
                <a:solidFill>
                  <a:srgbClr val="FFFFFF"/>
                </a:solidFill>
              </a:rPr>
              <a:t>Popup   #2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6" name="Google Shape;325;p30">
            <a:extLst>
              <a:ext uri="{FF2B5EF4-FFF2-40B4-BE49-F238E27FC236}">
                <a16:creationId xmlns:a16="http://schemas.microsoft.com/office/drawing/2014/main" id="{1C791A01-508A-FF30-EA55-656843BFDE3F}"/>
              </a:ext>
            </a:extLst>
          </p:cNvPr>
          <p:cNvSpPr txBox="1"/>
          <p:nvPr/>
        </p:nvSpPr>
        <p:spPr>
          <a:xfrm>
            <a:off x="1717" y="4557061"/>
            <a:ext cx="9144000" cy="5864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endParaRPr lang="ko-KR" altLang="en-US" sz="1200" dirty="0">
              <a:solidFill>
                <a:srgbClr val="00FF00"/>
              </a:solidFill>
            </a:endParaRPr>
          </a:p>
        </p:txBody>
      </p:sp>
      <p:sp>
        <p:nvSpPr>
          <p:cNvPr id="7" name="Google Shape;76;p17">
            <a:extLst>
              <a:ext uri="{FF2B5EF4-FFF2-40B4-BE49-F238E27FC236}">
                <a16:creationId xmlns:a16="http://schemas.microsoft.com/office/drawing/2014/main" id="{8EDC24A1-4977-76B7-B1FD-E42E7FC8A744}"/>
              </a:ext>
            </a:extLst>
          </p:cNvPr>
          <p:cNvSpPr txBox="1"/>
          <p:nvPr/>
        </p:nvSpPr>
        <p:spPr>
          <a:xfrm>
            <a:off x="9275" y="325650"/>
            <a:ext cx="34887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Char char="-"/>
            </a:pPr>
            <a:r>
              <a:rPr lang="ko-KR" altLang="en-US" sz="900" b="1" dirty="0">
                <a:solidFill>
                  <a:srgbClr val="999999"/>
                </a:solidFill>
              </a:rPr>
              <a:t>능력 상세정보</a:t>
            </a:r>
            <a:endParaRPr sz="1100" b="1" dirty="0">
              <a:solidFill>
                <a:srgbClr val="999999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795A56-8D9D-B818-FB45-68718FE49772}"/>
              </a:ext>
            </a:extLst>
          </p:cNvPr>
          <p:cNvSpPr/>
          <p:nvPr/>
        </p:nvSpPr>
        <p:spPr>
          <a:xfrm>
            <a:off x="784226" y="1752157"/>
            <a:ext cx="977900" cy="183005"/>
          </a:xfrm>
          <a:prstGeom prst="rect">
            <a:avLst/>
          </a:prstGeom>
          <a:noFill/>
          <a:ln w="12700">
            <a:solidFill>
              <a:srgbClr val="FF66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5C51CC9-39AB-9964-B105-C2FD1D35B0BF}"/>
              </a:ext>
            </a:extLst>
          </p:cNvPr>
          <p:cNvCxnSpPr>
            <a:cxnSpLocks/>
          </p:cNvCxnSpPr>
          <p:nvPr/>
        </p:nvCxnSpPr>
        <p:spPr>
          <a:xfrm>
            <a:off x="1762126" y="1851471"/>
            <a:ext cx="399183" cy="0"/>
          </a:xfrm>
          <a:prstGeom prst="line">
            <a:avLst/>
          </a:prstGeom>
          <a:ln w="952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19A4F75-3B2E-9677-57B0-09F287E58D2D}"/>
              </a:ext>
            </a:extLst>
          </p:cNvPr>
          <p:cNvCxnSpPr/>
          <p:nvPr/>
        </p:nvCxnSpPr>
        <p:spPr>
          <a:xfrm flipV="1">
            <a:off x="2161309" y="597005"/>
            <a:ext cx="0" cy="1254466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893AA60B-7D92-9EFB-C9CA-266E5A91928B}"/>
              </a:ext>
            </a:extLst>
          </p:cNvPr>
          <p:cNvCxnSpPr/>
          <p:nvPr/>
        </p:nvCxnSpPr>
        <p:spPr>
          <a:xfrm>
            <a:off x="2161309" y="597005"/>
            <a:ext cx="173812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1FC58D6-4878-108D-D036-EF244E18ADE5}"/>
              </a:ext>
            </a:extLst>
          </p:cNvPr>
          <p:cNvSpPr txBox="1"/>
          <p:nvPr/>
        </p:nvSpPr>
        <p:spPr>
          <a:xfrm>
            <a:off x="2272993" y="496977"/>
            <a:ext cx="13260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FF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ko-KR" altLang="en-US" sz="700" dirty="0">
                <a:solidFill>
                  <a:srgbClr val="FF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능력 상세정보</a:t>
            </a:r>
            <a:r>
              <a:rPr lang="en-US" altLang="ko-KR" sz="700" dirty="0">
                <a:solidFill>
                  <a:srgbClr val="FF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버튼 클릭 시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5C08978-2C8B-A911-E61A-5262C8411A83}"/>
              </a:ext>
            </a:extLst>
          </p:cNvPr>
          <p:cNvSpPr/>
          <p:nvPr/>
        </p:nvSpPr>
        <p:spPr>
          <a:xfrm>
            <a:off x="638617" y="1968499"/>
            <a:ext cx="1258195" cy="1821625"/>
          </a:xfrm>
          <a:prstGeom prst="rect">
            <a:avLst/>
          </a:prstGeom>
          <a:noFill/>
          <a:ln w="12700">
            <a:solidFill>
              <a:srgbClr val="FFFF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951777-8788-7F47-52FB-937FC2F9A6A9}"/>
              </a:ext>
            </a:extLst>
          </p:cNvPr>
          <p:cNvSpPr txBox="1"/>
          <p:nvPr/>
        </p:nvSpPr>
        <p:spPr>
          <a:xfrm>
            <a:off x="3662557" y="498840"/>
            <a:ext cx="1721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색 변화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Frame_bg_big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색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FFD000)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 변환 및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Mask (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색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FFBA00, alpha 160)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처리 된 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70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shop_frame_glow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색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000000)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975E958-5F10-9FB0-B586-D4624698BEE6}"/>
              </a:ext>
            </a:extLst>
          </p:cNvPr>
          <p:cNvCxnSpPr/>
          <p:nvPr/>
        </p:nvCxnSpPr>
        <p:spPr>
          <a:xfrm>
            <a:off x="3512091" y="597005"/>
            <a:ext cx="173812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54F6A4C-8363-1FB3-C7AF-66785FC5B386}"/>
              </a:ext>
            </a:extLst>
          </p:cNvPr>
          <p:cNvCxnSpPr/>
          <p:nvPr/>
        </p:nvCxnSpPr>
        <p:spPr>
          <a:xfrm flipV="1">
            <a:off x="2966223" y="680132"/>
            <a:ext cx="0" cy="17280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CD770AF-DDAC-DF40-BBE9-AFE1DE0654BF}"/>
              </a:ext>
            </a:extLst>
          </p:cNvPr>
          <p:cNvSpPr txBox="1"/>
          <p:nvPr/>
        </p:nvSpPr>
        <p:spPr>
          <a:xfrm>
            <a:off x="2360127" y="856005"/>
            <a:ext cx="1212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상태정보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Popup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창 하단에</a:t>
            </a:r>
            <a:endParaRPr lang="en-US" altLang="ko-KR" sz="700" dirty="0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sz="7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추가창</a:t>
            </a:r>
            <a:r>
              <a:rPr lang="ko-KR" altLang="en-US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Active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635BBC5B-8B84-D77F-C46E-C74A66805B12}"/>
              </a:ext>
            </a:extLst>
          </p:cNvPr>
          <p:cNvCxnSpPr>
            <a:cxnSpLocks/>
          </p:cNvCxnSpPr>
          <p:nvPr/>
        </p:nvCxnSpPr>
        <p:spPr>
          <a:xfrm>
            <a:off x="1896812" y="2888837"/>
            <a:ext cx="460980" cy="0"/>
          </a:xfrm>
          <a:prstGeom prst="line">
            <a:avLst/>
          </a:prstGeom>
          <a:ln w="95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5DFB76E-1D60-128A-33A1-D60305E4B621}"/>
              </a:ext>
            </a:extLst>
          </p:cNvPr>
          <p:cNvCxnSpPr>
            <a:cxnSpLocks/>
          </p:cNvCxnSpPr>
          <p:nvPr/>
        </p:nvCxnSpPr>
        <p:spPr>
          <a:xfrm flipV="1">
            <a:off x="2357792" y="1062793"/>
            <a:ext cx="2335" cy="1818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A1267065-CC99-97E2-0AF0-8706D068B88E}"/>
              </a:ext>
            </a:extLst>
          </p:cNvPr>
          <p:cNvCxnSpPr>
            <a:cxnSpLocks/>
          </p:cNvCxnSpPr>
          <p:nvPr/>
        </p:nvCxnSpPr>
        <p:spPr>
          <a:xfrm>
            <a:off x="2357792" y="1062793"/>
            <a:ext cx="249382" cy="0"/>
          </a:xfrm>
          <a:prstGeom prst="line">
            <a:avLst/>
          </a:prstGeom>
          <a:ln w="95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EE80D20-57E3-1710-BFA5-DFBB826C3823}"/>
              </a:ext>
            </a:extLst>
          </p:cNvPr>
          <p:cNvSpPr txBox="1"/>
          <p:nvPr/>
        </p:nvSpPr>
        <p:spPr>
          <a:xfrm>
            <a:off x="2554274" y="1533662"/>
            <a:ext cx="4525598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능력 상세정보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</a:p>
          <a:p>
            <a:endParaRPr lang="en-US" altLang="ko-KR" sz="700" b="1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*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모든 전투와 보조에 관련된 능력치들이 표시됨</a:t>
            </a:r>
            <a:endParaRPr lang="en-US" altLang="ko-KR" sz="700" b="1" dirty="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*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괄호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()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안에 수치는 초기 설정 수치</a:t>
            </a:r>
            <a:endParaRPr lang="en-US" altLang="ko-KR" sz="700" b="1" dirty="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*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치명타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, 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물리저항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, 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마법저항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, 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회피율은 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100%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가 넘어갈 시 표기는 넘은 그대로 하되 적용은 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100%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까지만 적용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.</a:t>
            </a:r>
          </a:p>
          <a:p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*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표기 시 소수점이 생기면 괄호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()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안에 표기된 </a:t>
            </a:r>
            <a:r>
              <a:rPr lang="ko-KR" altLang="en-US" sz="700" b="1" dirty="0" err="1">
                <a:solidFill>
                  <a:schemeClr val="bg1">
                    <a:lumMod val="25000"/>
                    <a:lumOff val="75000"/>
                  </a:schemeClr>
                </a:solidFill>
              </a:rPr>
              <a:t>소수점까지만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  반올림하여 표기 및 적용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. </a:t>
            </a:r>
          </a:p>
          <a:p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 </a:t>
            </a:r>
            <a:r>
              <a:rPr lang="ko-KR" altLang="en-US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소수점 없을 경우 소수점 표기 </a:t>
            </a:r>
            <a:r>
              <a:rPr lang="en-US" altLang="ko-KR" sz="700" b="1" dirty="0">
                <a:solidFill>
                  <a:schemeClr val="bg1">
                    <a:lumMod val="25000"/>
                    <a:lumOff val="75000"/>
                  </a:schemeClr>
                </a:solidFill>
              </a:rPr>
              <a:t>X</a:t>
            </a:r>
          </a:p>
          <a:p>
            <a:endParaRPr lang="en-US" altLang="ko-KR" sz="700" b="1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물리공격력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물리타입 공격들의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피해량에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영향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(10)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2.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마법공격력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마법타입 공격들의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피해량에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영향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(10)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3.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치명타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공격이 치명타로 적중할 확률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(0.00%) 100%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이상 수치가 가능하나 적용은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100%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까지만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치명타피해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치명타로 적중 시 표기된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로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피해량을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곱하여 피해를 줌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(150%)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즉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150%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면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1.5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배</a:t>
            </a:r>
            <a:endParaRPr lang="en-US" altLang="ko-KR" sz="700" b="1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5.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명중률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공격이 적에게 적중할 확률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(80.0%)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6.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공격속도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기본공격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회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Anim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의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Speed. (100%)</a:t>
            </a:r>
          </a:p>
          <a:p>
            <a:pPr marL="342908" indent="-342908">
              <a:buAutoNum type="arabicPeriod"/>
            </a:pPr>
            <a:endParaRPr lang="en-US" altLang="ko-KR" sz="700" b="1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7.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최대체력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신체 내구력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 0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이 되면 사망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8.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방어력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모든 타입의 최종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피해량에서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방어력의 수치만큼 최종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피해량을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감소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            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최종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피해량은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음수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(-)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가 될 수 없음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 (0)</a:t>
            </a:r>
          </a:p>
          <a:p>
            <a:endParaRPr lang="en-US" altLang="ko-KR" sz="700" b="1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9.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물리저항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물리 타입의 피해를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받을때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해당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%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만큼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피해량을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감소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 (0.00%)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10.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마법저항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마법 타입의 피해를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받을때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해당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%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만큼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피해량을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감소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 (0.00%)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11.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회피율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모든 타입의 공격을 해당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%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만큼 회피하여 피해를 무시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 (0.00%)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12.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회복력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체력회복에 관련된 모든 효과를 표기된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로 곱하여 적용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 (0.0%)</a:t>
            </a:r>
          </a:p>
          <a:p>
            <a:endParaRPr lang="en-US" altLang="ko-KR" sz="700" b="1" dirty="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13.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성장률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레벨 경험치 획득 시 표기된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로 곱하여 적용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 (100%)</a:t>
            </a:r>
          </a:p>
          <a:p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14.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획득률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몬스터 </a:t>
            </a:r>
            <a:r>
              <a:rPr lang="ko-KR" altLang="en-US" sz="7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드랍률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표기된 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로 곱하여 적용</a:t>
            </a:r>
            <a:r>
              <a:rPr lang="en-US" altLang="ko-KR" sz="7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.(100%)</a:t>
            </a:r>
          </a:p>
        </p:txBody>
      </p:sp>
      <p:sp>
        <p:nvSpPr>
          <p:cNvPr id="79" name="Google Shape;931;p69">
            <a:extLst>
              <a:ext uri="{FF2B5EF4-FFF2-40B4-BE49-F238E27FC236}">
                <a16:creationId xmlns:a16="http://schemas.microsoft.com/office/drawing/2014/main" id="{98BC497F-F131-0FC6-D60D-BFD875BD0474}"/>
              </a:ext>
            </a:extLst>
          </p:cNvPr>
          <p:cNvSpPr txBox="1"/>
          <p:nvPr/>
        </p:nvSpPr>
        <p:spPr>
          <a:xfrm>
            <a:off x="6096678" y="498840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role_icon_assassin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AB721BC2-BCD0-1A6F-CE7D-A41E775E5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339" y="731979"/>
            <a:ext cx="216000" cy="2160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D0CEE831-191A-ED03-63E2-4559DE086267}"/>
              </a:ext>
            </a:extLst>
          </p:cNvPr>
          <p:cNvSpPr txBox="1"/>
          <p:nvPr/>
        </p:nvSpPr>
        <p:spPr>
          <a:xfrm>
            <a:off x="6203656" y="947979"/>
            <a:ext cx="77136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Color: F57A6E</a:t>
            </a:r>
          </a:p>
        </p:txBody>
      </p:sp>
      <p:sp>
        <p:nvSpPr>
          <p:cNvPr id="83" name="Google Shape;931;p69">
            <a:extLst>
              <a:ext uri="{FF2B5EF4-FFF2-40B4-BE49-F238E27FC236}">
                <a16:creationId xmlns:a16="http://schemas.microsoft.com/office/drawing/2014/main" id="{029B6128-2D7F-1CC5-47CA-7400E3C449E1}"/>
              </a:ext>
            </a:extLst>
          </p:cNvPr>
          <p:cNvSpPr txBox="1"/>
          <p:nvPr/>
        </p:nvSpPr>
        <p:spPr>
          <a:xfrm>
            <a:off x="6982691" y="498840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role_icon_gladiator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FC4CBD6-1973-42DB-C57B-A5650B0C49F9}"/>
              </a:ext>
            </a:extLst>
          </p:cNvPr>
          <p:cNvSpPr txBox="1"/>
          <p:nvPr/>
        </p:nvSpPr>
        <p:spPr>
          <a:xfrm>
            <a:off x="7089669" y="947979"/>
            <a:ext cx="77136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Color: 65A9FD</a:t>
            </a: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4577851C-D4E3-F0CB-6BD8-C3E16A074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300" y="714505"/>
            <a:ext cx="228343" cy="216000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4990661A-13D6-B6A9-0F6D-33B7B838D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230" y="713263"/>
            <a:ext cx="216000" cy="216000"/>
          </a:xfrm>
          <a:prstGeom prst="rect">
            <a:avLst/>
          </a:prstGeom>
        </p:spPr>
      </p:pic>
      <p:sp>
        <p:nvSpPr>
          <p:cNvPr id="92" name="Google Shape;931;p69">
            <a:extLst>
              <a:ext uri="{FF2B5EF4-FFF2-40B4-BE49-F238E27FC236}">
                <a16:creationId xmlns:a16="http://schemas.microsoft.com/office/drawing/2014/main" id="{868CE8A6-4DB2-5670-2760-DCB1404E0BDB}"/>
              </a:ext>
            </a:extLst>
          </p:cNvPr>
          <p:cNvSpPr txBox="1"/>
          <p:nvPr/>
        </p:nvSpPr>
        <p:spPr>
          <a:xfrm>
            <a:off x="7898943" y="498840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role_icon_darkmage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DC3BB96-62D5-F742-0892-445770A70EEC}"/>
              </a:ext>
            </a:extLst>
          </p:cNvPr>
          <p:cNvSpPr txBox="1"/>
          <p:nvPr/>
        </p:nvSpPr>
        <p:spPr>
          <a:xfrm>
            <a:off x="8005921" y="947979"/>
            <a:ext cx="78579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Color: C6FFD7</a:t>
            </a:r>
          </a:p>
        </p:txBody>
      </p:sp>
      <p:sp>
        <p:nvSpPr>
          <p:cNvPr id="95" name="Google Shape;931;p69">
            <a:extLst>
              <a:ext uri="{FF2B5EF4-FFF2-40B4-BE49-F238E27FC236}">
                <a16:creationId xmlns:a16="http://schemas.microsoft.com/office/drawing/2014/main" id="{BB2935FF-E811-921A-9B77-C1D432C4F394}"/>
              </a:ext>
            </a:extLst>
          </p:cNvPr>
          <p:cNvSpPr txBox="1"/>
          <p:nvPr/>
        </p:nvSpPr>
        <p:spPr>
          <a:xfrm>
            <a:off x="6870898" y="1125481"/>
            <a:ext cx="1239145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Decor_Title_options_long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602E7FEB-91EE-91AA-F5B4-52D4BF75EC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2290" y="1336178"/>
            <a:ext cx="1276359" cy="7200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CDDE9DAD-9D7C-21D5-5E8E-EFEC6BBADB67}"/>
              </a:ext>
            </a:extLst>
          </p:cNvPr>
          <p:cNvSpPr txBox="1"/>
          <p:nvPr/>
        </p:nvSpPr>
        <p:spPr>
          <a:xfrm>
            <a:off x="6203656" y="1433634"/>
            <a:ext cx="78579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Color: FAAFA4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F3FC7F3-F100-512F-0772-164F5C0119E8}"/>
              </a:ext>
            </a:extLst>
          </p:cNvPr>
          <p:cNvSpPr txBox="1"/>
          <p:nvPr/>
        </p:nvSpPr>
        <p:spPr>
          <a:xfrm>
            <a:off x="7089669" y="1433634"/>
            <a:ext cx="77136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Color: 9EE0FF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C2DF851-23AE-A3C6-E8AE-91F34ACE9F37}"/>
              </a:ext>
            </a:extLst>
          </p:cNvPr>
          <p:cNvSpPr txBox="1"/>
          <p:nvPr/>
        </p:nvSpPr>
        <p:spPr>
          <a:xfrm>
            <a:off x="8005921" y="1433634"/>
            <a:ext cx="78579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Color: C6FFD7</a:t>
            </a: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741C738F-2AA1-E9F5-EAD1-5A4693E291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2369" y="1101208"/>
            <a:ext cx="626400" cy="108000"/>
          </a:xfrm>
          <a:prstGeom prst="rect">
            <a:avLst/>
          </a:prstGeom>
        </p:spPr>
      </p:pic>
      <p:sp>
        <p:nvSpPr>
          <p:cNvPr id="105" name="Google Shape;931;p69">
            <a:extLst>
              <a:ext uri="{FF2B5EF4-FFF2-40B4-BE49-F238E27FC236}">
                <a16:creationId xmlns:a16="http://schemas.microsoft.com/office/drawing/2014/main" id="{CC938C6D-547A-EF1F-2455-B18E193AD5BC}"/>
              </a:ext>
            </a:extLst>
          </p:cNvPr>
          <p:cNvSpPr txBox="1"/>
          <p:nvPr/>
        </p:nvSpPr>
        <p:spPr>
          <a:xfrm>
            <a:off x="5238512" y="867459"/>
            <a:ext cx="997729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700" dirty="0" err="1">
                <a:solidFill>
                  <a:srgbClr val="FFFF00"/>
                </a:solidFill>
              </a:rPr>
              <a:t>shop_tab_focus</a:t>
            </a:r>
            <a:endParaRPr sz="7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415649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TM04033929[[fn=슬레이트]]</Template>
  <TotalTime>413</TotalTime>
  <Words>1231</Words>
  <Application>Microsoft Office PowerPoint</Application>
  <PresentationFormat>화면 슬라이드 쇼(16:9)</PresentationFormat>
  <Paragraphs>240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Simple Dark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성우 김</cp:lastModifiedBy>
  <cp:revision>56</cp:revision>
  <dcterms:modified xsi:type="dcterms:W3CDTF">2026-03-19T14:55:48Z</dcterms:modified>
</cp:coreProperties>
</file>